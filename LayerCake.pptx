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eaker 1: why and what" id="{94161ec6-e1ba-ef9f-6f7a-6158de8d2480}">
          <p14:sldIdLst>
            <p14:sldId id="256"/>
            <p14:sldId id="257"/>
            <p14:sldId id="258"/>
            <p14:sldId id="259"/>
          </p14:sldIdLst>
        </p14:section>
        <p14:section name="Speaker 2: how it runs and what we saw" id="{0f25c817-80ac-98b3-6056-6f23a641dcce}">
          <p14:sldIdLst>
            <p14:sldId id="260"/>
            <p14:sldId id="261"/>
            <p14:sldId id="262"/>
          </p14:sldIdLst>
        </p14:section>
        <p14:section name="Speaker 3: what's next" id="{fec35be7-0627-ac90-2d39-5375af13d67c}">
          <p14:sldIdLst>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~9 s  ·  0:00–0:09
Hi, we're Layer Cake: your devices, one model. We split a language model's layers across the computers you already own.
[Smile, look at the judges,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~18 s  ·  0:09–0:27
The problem: Qwen 2.5 32B is 19.9 gigabytes of weights, but each of our Macs has 16 gigs of RAM, and its owner needs some of that. Cloud GPUs fix the size, but cost money and send your prompts off-device.
[Point at the two numbers as you say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~13 s  ·  0:27–0:40
So every device takes a part. The M1 Air runs layers 0 to 31, the M2 Pro runs 32 to 63, and only about 20 kilobytes per token crosses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~14 s  ·  0:40–0:54
One leader runs the job API, queue and history, and drives workers through either llama.cpp or our own shard backend, all over an encrypted Iroh mesh where workers only answer allowlisted nodes.
[Hand off to Speaker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~19 s  ·  0:54–1:13
Here's a job. The API takes a chat request off the queue and applies the model's chat template. The leader dials the prefix worker by node ID, token IDs go out, hidden states come back, and the reply streams to your browser token by token.
[Walk left to right across the four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~15 s  ·  1:13–1:28
And it works. On October 24th a 32-billion-parameter model ran split down the middle across two 16-gig Macs, and neither one ever loaded the full weights. That quote is the model explaining itself.
[Pause for a beat after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~16 s  ·  1:28–1:44
Each Mac carried about ten gigabytes. We saw 2.33 output steps per second after prefill, with just 20 kilobytes of activations per step. To be clear, that's one cold run over a relayed connection, not a benchmark.
[Hand off to Speaker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~15 s  ·  1:44–1:59
To decide who holds what, each device gets a measured profile: memory, compute and link cost. The planner finds the fastest layout that fits, and the leader refuses any plan that breaks the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~17 s  ·  1:59–2:16
If the leader drops, the conversation survives: every device keeps the history, survivors agree on one new leader, and a new epoch keeps the old one from coming back. That works in our simulator; it isn't live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~11 s  ·  2:16–2:27
Today the mesh, placement, launch, shard backend and cross-platform builds all work. Next we're wiring in history sync, leader-assigned shards, memory caps and bigger meshes.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~7 s  ·  2:27–2:34
It's better with company: two commands and you're running. We're Layer Cake. Thank you!
[End on time, about 2:35,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rtlCol="0"/>
          <a:lstStyle>
            <a:lvl1pPr indent="0" marL="0">
              <a:buNone/>
              <a:defRPr lang="en-US" sz="1200" b="1" spc="200" kern="0" dirty="0">
                <a:solidFill>
                  <a:schemeClr val="accent1"/>
                </a:solidFill>
                <a:latin typeface="Arial" pitchFamily="34" charset="0"/>
                <a:ea typeface="Arial" pitchFamily="34" charset="-122"/>
                <a:cs typeface="Arial" pitchFamily="34" charset="-120"/>
              </a:defRPr>
            </a:lvl1pPr>
          </a:lstStyle>
          <a:p>
            <a:pPr indent="0" marL="0">
              <a:buNone/>
            </a:pP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rtlCol="0"/>
          <a:lstStyle>
            <a:lvl1pPr algn="l" indent="0" marL="0">
              <a:buNone/>
              <a:defRPr lang="en-US" sz="3300" b="1" dirty="0">
                <a:solidFill>
                  <a:schemeClr val="tx1"/>
                </a:solidFill>
                <a:latin typeface="Trebuchet MS" pitchFamily="34" charset="0"/>
                <a:ea typeface="Trebuchet MS" pitchFamily="34" charset="-122"/>
                <a:cs typeface="Trebuchet MS" pitchFamily="34" charset="-120"/>
              </a:defRPr>
            </a:lvl1pPr>
          </a:lstStyle>
          <a:p>
            <a:pPr algn="l" indent="0" marL="0">
              <a:buNone/>
            </a:pPr>
            <a:endParaRPr lang="en-US" sz="33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rtlCol="0"/>
          <a:lstStyle>
            <a:lvl1pPr indent="0" marL="0">
              <a:buNone/>
              <a:defRPr lang="en-US" sz="1200" b="1" spc="200" kern="0" dirty="0">
                <a:solidFill>
                  <a:schemeClr val="accent3"/>
                </a:solidFill>
                <a:latin typeface="Arial" pitchFamily="34" charset="0"/>
                <a:ea typeface="Arial" pitchFamily="34" charset="-122"/>
                <a:cs typeface="Arial" pitchFamily="34" charset="-120"/>
              </a:defRPr>
            </a:lvl1pPr>
          </a:lstStyle>
          <a:p>
            <a:pPr indent="0" marL="0">
              <a:buNone/>
            </a:pP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rtlCol="0"/>
          <a:lstStyle>
            <a:lvl1pPr algn="l" indent="0" marL="0">
              <a:buNone/>
              <a:defRPr lang="en-US" sz="3300" b="1" dirty="0">
                <a:solidFill>
                  <a:schemeClr val="bg1"/>
                </a:solidFill>
                <a:latin typeface="Trebuchet MS" pitchFamily="34" charset="0"/>
                <a:ea typeface="Trebuchet MS" pitchFamily="34" charset="-122"/>
                <a:cs typeface="Trebuchet MS" pitchFamily="34" charset="-120"/>
              </a:defRPr>
            </a:lvl1pPr>
          </a:lstStyle>
          <a:p>
            <a:pPr algn="l" indent="0" marL="0">
              <a:buNone/>
            </a:pPr>
            <a:endParaRPr lang="en-US" sz="33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ED">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rtlCol="0"/>
          <a:lstStyle>
            <a:lvl1pPr indent="0" marL="0">
              <a:buNone/>
              <a:defRPr lang="en-US" sz="1200" b="1" spc="200" kern="0" dirty="0">
                <a:solidFill>
                  <a:srgbClr val="FFD9CF"/>
                </a:solidFill>
                <a:latin typeface="Arial" pitchFamily="34" charset="0"/>
                <a:ea typeface="Arial" pitchFamily="34" charset="-122"/>
                <a:cs typeface="Arial" pitchFamily="34" charset="-120"/>
              </a:defRPr>
            </a:lvl1pPr>
          </a:lstStyle>
          <a:p>
            <a:pPr indent="0" marL="0">
              <a:buNone/>
            </a:pP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rtlCol="0"/>
          <a:lstStyle>
            <a:lvl1pPr algn="l" indent="0" marL="0">
              <a:buNone/>
              <a:defRPr lang="en-US" sz="3300" b="1" dirty="0">
                <a:solidFill>
                  <a:schemeClr val="bg1"/>
                </a:solidFill>
                <a:latin typeface="Trebuchet MS" pitchFamily="34" charset="0"/>
                <a:ea typeface="Trebuchet MS" pitchFamily="34" charset="-122"/>
                <a:cs typeface="Trebuchet MS" pitchFamily="34" charset="-120"/>
              </a:defRPr>
            </a:lvl1pPr>
          </a:lstStyle>
          <a:p>
            <a:pPr algn="l" indent="0" marL="0">
              <a:buNone/>
            </a:pPr>
            <a:endParaRPr lang="en-US" sz="33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D9CF"/>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57400"/>
            <a:ext cx="6949440" cy="1783080"/>
          </a:xfrm>
          <a:prstGeom prst="rect">
            <a:avLst/>
          </a:prstGeom>
          <a:noFill/>
          <a:ln/>
        </p:spPr>
        <p:txBody>
          <a:bodyPr wrap="square" rtlCol="0"/>
          <a:lstStyle>
            <a:lvl1pPr algn="l" indent="0" marL="0">
              <a:buNone/>
              <a:defRPr lang="en-US" sz="5800" b="1" dirty="0">
                <a:solidFill>
                  <a:schemeClr val="tx1"/>
                </a:solidFill>
                <a:latin typeface="Trebuchet MS" pitchFamily="34" charset="0"/>
                <a:ea typeface="Trebuchet MS" pitchFamily="34" charset="-122"/>
                <a:cs typeface="Trebuchet MS" pitchFamily="34" charset="-120"/>
              </a:defRPr>
            </a:lvl1pPr>
          </a:lstStyle>
          <a:p>
            <a:pPr algn="l" indent="0" marL="0">
              <a:buNone/>
            </a:pPr>
            <a:endParaRPr lang="en-US" sz="5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822960" y="1481328"/>
            <a:ext cx="2743200" cy="365760"/>
          </a:xfrm>
          <a:prstGeom prst="rect">
            <a:avLst/>
          </a:prstGeom>
          <a:noFill/>
          <a:ln/>
        </p:spPr>
        <p:txBody>
          <a:bodyPr wrap="square" lIns="0" tIns="0" rIns="0" bIns="0" rtlCol="0" anchor="t"/>
          <a:lstStyle/>
          <a:p>
            <a:pPr indent="0" marL="0">
              <a:buNone/>
            </a:pPr>
            <a:r>
              <a:rPr lang="en-US" sz="1800" b="1" dirty="0">
                <a:solidFill>
                  <a:schemeClr val="tx1"/>
                </a:solidFill>
                <a:latin typeface="Trebuchet MS" pitchFamily="34" charset="0"/>
                <a:ea typeface="Trebuchet MS" pitchFamily="34" charset="-122"/>
                <a:cs typeface="Trebuchet MS" pitchFamily="34" charset="-120"/>
              </a:rPr>
              <a:t>layer cake</a:t>
            </a:r>
            <a:pPr indent="0" marL="0">
              <a:buNone/>
            </a:pPr>
            <a:r>
              <a:rPr lang="en-US" sz="1800" b="1" dirty="0">
                <a:solidFill>
                  <a:schemeClr val="accent1"/>
                </a:solidFill>
                <a:latin typeface="Trebuchet MS" pitchFamily="34" charset="0"/>
                <a:ea typeface="Trebuchet MS" pitchFamily="34" charset="-122"/>
                <a:cs typeface="Trebuchet MS" pitchFamily="34" charset="-120"/>
              </a:rPr>
              <a:t>.</a:t>
            </a:r>
            <a:endParaRPr lang="en-US" sz="1800" dirty="0"/>
          </a:p>
        </p:txBody>
      </p:sp>
      <p:sp>
        <p:nvSpPr>
          <p:cNvPr id="3" name="Text 0"/>
          <p:cNvSpPr/>
          <p:nvPr>
            <p:ph idx="100" type="title" hasCustomPrompt="1"/>
          </p:nvPr>
        </p:nvSpPr>
        <p:spPr>
          <a:xfrm>
            <a:off x="822960" y="2057400"/>
            <a:ext cx="6949440" cy="1783080"/>
          </a:xfrm>
          <a:prstGeom prst="rect">
            <a:avLst/>
          </a:prstGeom>
          <a:noFill/>
          <a:ln/>
        </p:spPr>
        <p:txBody>
          <a:bodyPr wrap="square" lIns="0" tIns="0" rIns="0" bIns="0" rtlCol="0" anchor="t"/>
          <a:lstStyle/>
          <a:p>
            <a:pPr algn="l" indent="0" marL="0">
              <a:buNone/>
            </a:pPr>
            <a:r>
              <a:rPr lang="en-US" sz="5800" b="1" dirty="0">
                <a:solidFill>
                  <a:schemeClr val="tx1"/>
                </a:solidFill>
                <a:latin typeface="Trebuchet MS" pitchFamily="34" charset="0"/>
                <a:ea typeface="Trebuchet MS" pitchFamily="34" charset="-122"/>
                <a:cs typeface="Trebuchet MS" pitchFamily="34" charset="-120"/>
              </a:rPr>
              <a:t>Your devices,</a:t>
            </a:r>
            <a:endParaRPr lang="en-US" sz="5800" dirty="0"/>
          </a:p>
          <a:p>
            <a:pPr algn="l" indent="0" marL="0">
              <a:buNone/>
            </a:pPr>
            <a:r>
              <a:rPr lang="en-US" sz="5800" b="1" dirty="0">
                <a:solidFill>
                  <a:schemeClr val="tx1"/>
                </a:solidFill>
                <a:latin typeface="Trebuchet MS" pitchFamily="34" charset="0"/>
                <a:ea typeface="Trebuchet MS" pitchFamily="34" charset="-122"/>
                <a:cs typeface="Trebuchet MS" pitchFamily="34" charset="-120"/>
              </a:rPr>
              <a:t>one model.</a:t>
            </a:r>
            <a:endParaRPr lang="en-US" sz="5800" dirty="0"/>
          </a:p>
        </p:txBody>
      </p:sp>
      <p:sp>
        <p:nvSpPr>
          <p:cNvPr id="4" name="text-2"/>
          <p:cNvSpPr txBox="1"/>
          <p:nvPr/>
        </p:nvSpPr>
        <p:spPr>
          <a:xfrm>
            <a:off x="822960" y="3986784"/>
            <a:ext cx="6492240" cy="868680"/>
          </a:xfrm>
          <a:prstGeom prst="rect">
            <a:avLst/>
          </a:prstGeom>
          <a:noFill/>
          <a:ln/>
        </p:spPr>
        <p:txBody>
          <a:bodyPr wrap="square" lIns="0" tIns="0" rIns="0" bIns="0" rtlCol="0" anchor="t"/>
          <a:lstStyle/>
          <a:p>
            <a:pPr indent="0" marL="0">
              <a:buNone/>
            </a:pPr>
            <a:r>
              <a:rPr lang="en-US" sz="1600" dirty="0">
                <a:solidFill>
                  <a:schemeClr val="accent6"/>
                </a:solidFill>
                <a:latin typeface="Arial" pitchFamily="34" charset="0"/>
                <a:ea typeface="Arial" pitchFamily="34" charset="-122"/>
                <a:cs typeface="Arial" pitchFamily="34" charset="-120"/>
              </a:rPr>
              <a:t>A little from each device, more possible together. Layer Cake splits a language model's layers across the computers you already own.</a:t>
            </a:r>
            <a:endParaRPr lang="en-US" sz="1600" dirty="0"/>
          </a:p>
        </p:txBody>
      </p:sp>
      <p:sp>
        <p:nvSpPr>
          <p:cNvPr id="5" name="text-3"/>
          <p:cNvSpPr txBox="1"/>
          <p:nvPr/>
        </p:nvSpPr>
        <p:spPr>
          <a:xfrm>
            <a:off x="822960" y="5193792"/>
            <a:ext cx="6949440" cy="274320"/>
          </a:xfrm>
          <a:prstGeom prst="rect">
            <a:avLst/>
          </a:prstGeom>
          <a:noFill/>
          <a:ln/>
        </p:spPr>
        <p:txBody>
          <a:bodyPr wrap="square" lIns="0" tIns="0" rIns="0" bIns="0" rtlCol="0" anchor="t"/>
          <a:lstStyle/>
          <a:p>
            <a:pPr indent="0" marL="0">
              <a:buNone/>
            </a:pPr>
            <a:r>
              <a:rPr lang="en-US" sz="1100" dirty="0">
                <a:solidFill>
                  <a:schemeClr val="accent6"/>
                </a:solidFill>
                <a:latin typeface="Arial" pitchFamily="34" charset="0"/>
                <a:ea typeface="Arial" pitchFamily="34" charset="-122"/>
                <a:cs typeface="Arial" pitchFamily="34" charset="-120"/>
              </a:rPr>
              <a:t>HackOHIO 2026  ·  Aarush Maddula  ·  Connor Cochran  ·  David Stephenson  ·  Yash Joshi</a:t>
            </a:r>
            <a:endParaRPr lang="en-US" sz="1100" dirty="0"/>
          </a:p>
        </p:txBody>
      </p:sp>
      <p:sp>
        <p:nvSpPr>
          <p:cNvPr id="6" name="cake-0-3"/>
          <p:cNvSpPr/>
          <p:nvPr/>
        </p:nvSpPr>
        <p:spPr>
          <a:xfrm>
            <a:off x="8737382" y="2006600"/>
            <a:ext cx="206853" cy="206853"/>
          </a:xfrm>
          <a:prstGeom prst="rect">
            <a:avLst/>
          </a:prstGeom>
          <a:solidFill>
            <a:srgbClr val="F48C80"/>
          </a:solidFill>
          <a:ln/>
        </p:spPr>
      </p:sp>
      <p:sp>
        <p:nvSpPr>
          <p:cNvPr id="7" name="cake-0-4"/>
          <p:cNvSpPr/>
          <p:nvPr/>
        </p:nvSpPr>
        <p:spPr>
          <a:xfrm>
            <a:off x="8940576" y="2006600"/>
            <a:ext cx="206853" cy="206853"/>
          </a:xfrm>
          <a:prstGeom prst="rect">
            <a:avLst/>
          </a:prstGeom>
          <a:solidFill>
            <a:srgbClr val="D2312C"/>
          </a:solidFill>
          <a:ln/>
        </p:spPr>
      </p:sp>
      <p:sp>
        <p:nvSpPr>
          <p:cNvPr id="8" name="cake-0-7"/>
          <p:cNvSpPr/>
          <p:nvPr/>
        </p:nvSpPr>
        <p:spPr>
          <a:xfrm>
            <a:off x="9550161" y="2006600"/>
            <a:ext cx="206853" cy="206853"/>
          </a:xfrm>
          <a:prstGeom prst="rect">
            <a:avLst/>
          </a:prstGeom>
          <a:solidFill>
            <a:srgbClr val="F48C80"/>
          </a:solidFill>
          <a:ln/>
        </p:spPr>
      </p:sp>
      <p:sp>
        <p:nvSpPr>
          <p:cNvPr id="9" name="cake-0-8"/>
          <p:cNvSpPr/>
          <p:nvPr/>
        </p:nvSpPr>
        <p:spPr>
          <a:xfrm>
            <a:off x="9753356" y="2006600"/>
            <a:ext cx="206853" cy="206853"/>
          </a:xfrm>
          <a:prstGeom prst="rect">
            <a:avLst/>
          </a:prstGeom>
          <a:solidFill>
            <a:srgbClr val="D2312C"/>
          </a:solidFill>
          <a:ln/>
        </p:spPr>
      </p:sp>
      <p:sp>
        <p:nvSpPr>
          <p:cNvPr id="10" name="cake-0-11"/>
          <p:cNvSpPr/>
          <p:nvPr/>
        </p:nvSpPr>
        <p:spPr>
          <a:xfrm>
            <a:off x="10362941" y="2006600"/>
            <a:ext cx="206853" cy="206853"/>
          </a:xfrm>
          <a:prstGeom prst="rect">
            <a:avLst/>
          </a:prstGeom>
          <a:solidFill>
            <a:srgbClr val="F48C80"/>
          </a:solidFill>
          <a:ln/>
        </p:spPr>
      </p:sp>
      <p:sp>
        <p:nvSpPr>
          <p:cNvPr id="11" name="cake-0-12"/>
          <p:cNvSpPr/>
          <p:nvPr/>
        </p:nvSpPr>
        <p:spPr>
          <a:xfrm>
            <a:off x="10566136" y="2006600"/>
            <a:ext cx="206853" cy="206853"/>
          </a:xfrm>
          <a:prstGeom prst="rect">
            <a:avLst/>
          </a:prstGeom>
          <a:solidFill>
            <a:srgbClr val="D2312C"/>
          </a:solidFill>
          <a:ln/>
        </p:spPr>
      </p:sp>
      <p:sp>
        <p:nvSpPr>
          <p:cNvPr id="12" name="cake-1-3"/>
          <p:cNvSpPr/>
          <p:nvPr/>
        </p:nvSpPr>
        <p:spPr>
          <a:xfrm>
            <a:off x="8737382" y="2209795"/>
            <a:ext cx="206853" cy="206853"/>
          </a:xfrm>
          <a:prstGeom prst="rect">
            <a:avLst/>
          </a:prstGeom>
          <a:solidFill>
            <a:srgbClr val="D2312C"/>
          </a:solidFill>
          <a:ln/>
        </p:spPr>
      </p:sp>
      <p:sp>
        <p:nvSpPr>
          <p:cNvPr id="13" name="cake-1-4"/>
          <p:cNvSpPr/>
          <p:nvPr/>
        </p:nvSpPr>
        <p:spPr>
          <a:xfrm>
            <a:off x="8940576" y="2209795"/>
            <a:ext cx="206853" cy="206853"/>
          </a:xfrm>
          <a:prstGeom prst="rect">
            <a:avLst/>
          </a:prstGeom>
          <a:solidFill>
            <a:srgbClr val="9E1F1A"/>
          </a:solidFill>
          <a:ln/>
        </p:spPr>
      </p:sp>
      <p:sp>
        <p:nvSpPr>
          <p:cNvPr id="14" name="cake-1-7"/>
          <p:cNvSpPr/>
          <p:nvPr/>
        </p:nvSpPr>
        <p:spPr>
          <a:xfrm>
            <a:off x="9550161" y="2209795"/>
            <a:ext cx="206853" cy="206853"/>
          </a:xfrm>
          <a:prstGeom prst="rect">
            <a:avLst/>
          </a:prstGeom>
          <a:solidFill>
            <a:srgbClr val="D2312C"/>
          </a:solidFill>
          <a:ln/>
        </p:spPr>
      </p:sp>
      <p:sp>
        <p:nvSpPr>
          <p:cNvPr id="15" name="cake-1-8"/>
          <p:cNvSpPr/>
          <p:nvPr/>
        </p:nvSpPr>
        <p:spPr>
          <a:xfrm>
            <a:off x="9753356" y="2209795"/>
            <a:ext cx="206853" cy="206853"/>
          </a:xfrm>
          <a:prstGeom prst="rect">
            <a:avLst/>
          </a:prstGeom>
          <a:solidFill>
            <a:srgbClr val="9E1F1A"/>
          </a:solidFill>
          <a:ln/>
        </p:spPr>
      </p:sp>
      <p:sp>
        <p:nvSpPr>
          <p:cNvPr id="16" name="cake-1-11"/>
          <p:cNvSpPr/>
          <p:nvPr/>
        </p:nvSpPr>
        <p:spPr>
          <a:xfrm>
            <a:off x="10362941" y="2209795"/>
            <a:ext cx="206853" cy="206853"/>
          </a:xfrm>
          <a:prstGeom prst="rect">
            <a:avLst/>
          </a:prstGeom>
          <a:solidFill>
            <a:srgbClr val="D2312C"/>
          </a:solidFill>
          <a:ln/>
        </p:spPr>
      </p:sp>
      <p:sp>
        <p:nvSpPr>
          <p:cNvPr id="17" name="cake-1-12"/>
          <p:cNvSpPr/>
          <p:nvPr/>
        </p:nvSpPr>
        <p:spPr>
          <a:xfrm>
            <a:off x="10566136" y="2209795"/>
            <a:ext cx="206853" cy="206853"/>
          </a:xfrm>
          <a:prstGeom prst="rect">
            <a:avLst/>
          </a:prstGeom>
          <a:solidFill>
            <a:srgbClr val="9E1F1A"/>
          </a:solidFill>
          <a:ln/>
        </p:spPr>
      </p:sp>
      <p:sp>
        <p:nvSpPr>
          <p:cNvPr id="18" name="cake-2-0"/>
          <p:cNvSpPr/>
          <p:nvPr/>
        </p:nvSpPr>
        <p:spPr>
          <a:xfrm>
            <a:off x="8127797" y="2412990"/>
            <a:ext cx="206853" cy="206853"/>
          </a:xfrm>
          <a:prstGeom prst="rect">
            <a:avLst/>
          </a:prstGeom>
          <a:solidFill>
            <a:srgbClr val="F7F0E4"/>
          </a:solidFill>
          <a:ln/>
        </p:spPr>
      </p:sp>
      <p:sp>
        <p:nvSpPr>
          <p:cNvPr id="19" name="cake-2-1"/>
          <p:cNvSpPr/>
          <p:nvPr/>
        </p:nvSpPr>
        <p:spPr>
          <a:xfrm>
            <a:off x="8330992" y="2412990"/>
            <a:ext cx="206853" cy="206853"/>
          </a:xfrm>
          <a:prstGeom prst="rect">
            <a:avLst/>
          </a:prstGeom>
          <a:solidFill>
            <a:srgbClr val="FFFBF4"/>
          </a:solidFill>
          <a:ln/>
        </p:spPr>
      </p:sp>
      <p:sp>
        <p:nvSpPr>
          <p:cNvPr id="20" name="cake-2-2"/>
          <p:cNvSpPr/>
          <p:nvPr/>
        </p:nvSpPr>
        <p:spPr>
          <a:xfrm>
            <a:off x="8534187" y="2412990"/>
            <a:ext cx="206853" cy="206853"/>
          </a:xfrm>
          <a:prstGeom prst="rect">
            <a:avLst/>
          </a:prstGeom>
          <a:solidFill>
            <a:srgbClr val="F7F0E4"/>
          </a:solidFill>
          <a:ln/>
        </p:spPr>
      </p:sp>
      <p:sp>
        <p:nvSpPr>
          <p:cNvPr id="21" name="cake-2-3"/>
          <p:cNvSpPr/>
          <p:nvPr/>
        </p:nvSpPr>
        <p:spPr>
          <a:xfrm>
            <a:off x="8737382" y="2412990"/>
            <a:ext cx="206853" cy="206853"/>
          </a:xfrm>
          <a:prstGeom prst="rect">
            <a:avLst/>
          </a:prstGeom>
          <a:solidFill>
            <a:srgbClr val="F7F0E4"/>
          </a:solidFill>
          <a:ln/>
        </p:spPr>
      </p:sp>
      <p:sp>
        <p:nvSpPr>
          <p:cNvPr id="22" name="cake-2-4"/>
          <p:cNvSpPr/>
          <p:nvPr/>
        </p:nvSpPr>
        <p:spPr>
          <a:xfrm>
            <a:off x="8940576" y="2412990"/>
            <a:ext cx="206853" cy="206853"/>
          </a:xfrm>
          <a:prstGeom prst="rect">
            <a:avLst/>
          </a:prstGeom>
          <a:solidFill>
            <a:srgbClr val="F7F0E4"/>
          </a:solidFill>
          <a:ln/>
        </p:spPr>
      </p:sp>
      <p:sp>
        <p:nvSpPr>
          <p:cNvPr id="23" name="cake-2-5"/>
          <p:cNvSpPr/>
          <p:nvPr/>
        </p:nvSpPr>
        <p:spPr>
          <a:xfrm>
            <a:off x="9143771" y="2412990"/>
            <a:ext cx="206853" cy="206853"/>
          </a:xfrm>
          <a:prstGeom prst="rect">
            <a:avLst/>
          </a:prstGeom>
          <a:solidFill>
            <a:srgbClr val="F7F0E4"/>
          </a:solidFill>
          <a:ln/>
        </p:spPr>
      </p:sp>
      <p:sp>
        <p:nvSpPr>
          <p:cNvPr id="24" name="cake-2-6"/>
          <p:cNvSpPr/>
          <p:nvPr/>
        </p:nvSpPr>
        <p:spPr>
          <a:xfrm>
            <a:off x="9346966" y="2412990"/>
            <a:ext cx="206853" cy="206853"/>
          </a:xfrm>
          <a:prstGeom prst="rect">
            <a:avLst/>
          </a:prstGeom>
          <a:solidFill>
            <a:srgbClr val="F7F0E4"/>
          </a:solidFill>
          <a:ln/>
        </p:spPr>
      </p:sp>
      <p:sp>
        <p:nvSpPr>
          <p:cNvPr id="25" name="cake-2-7"/>
          <p:cNvSpPr/>
          <p:nvPr/>
        </p:nvSpPr>
        <p:spPr>
          <a:xfrm>
            <a:off x="9550161" y="2412990"/>
            <a:ext cx="206853" cy="206853"/>
          </a:xfrm>
          <a:prstGeom prst="rect">
            <a:avLst/>
          </a:prstGeom>
          <a:solidFill>
            <a:srgbClr val="F7F0E4"/>
          </a:solidFill>
          <a:ln/>
        </p:spPr>
      </p:sp>
      <p:sp>
        <p:nvSpPr>
          <p:cNvPr id="26" name="cake-2-8"/>
          <p:cNvSpPr/>
          <p:nvPr/>
        </p:nvSpPr>
        <p:spPr>
          <a:xfrm>
            <a:off x="9753356" y="2412990"/>
            <a:ext cx="206853" cy="206853"/>
          </a:xfrm>
          <a:prstGeom prst="rect">
            <a:avLst/>
          </a:prstGeom>
          <a:solidFill>
            <a:srgbClr val="F7F0E4"/>
          </a:solidFill>
          <a:ln/>
        </p:spPr>
      </p:sp>
      <p:sp>
        <p:nvSpPr>
          <p:cNvPr id="27" name="cake-2-9"/>
          <p:cNvSpPr/>
          <p:nvPr/>
        </p:nvSpPr>
        <p:spPr>
          <a:xfrm>
            <a:off x="9956551" y="2412990"/>
            <a:ext cx="206853" cy="206853"/>
          </a:xfrm>
          <a:prstGeom prst="rect">
            <a:avLst/>
          </a:prstGeom>
          <a:solidFill>
            <a:srgbClr val="FFFBF4"/>
          </a:solidFill>
          <a:ln/>
        </p:spPr>
      </p:sp>
      <p:sp>
        <p:nvSpPr>
          <p:cNvPr id="28" name="cake-2-10"/>
          <p:cNvSpPr/>
          <p:nvPr/>
        </p:nvSpPr>
        <p:spPr>
          <a:xfrm>
            <a:off x="10159746" y="2412990"/>
            <a:ext cx="206853" cy="206853"/>
          </a:xfrm>
          <a:prstGeom prst="rect">
            <a:avLst/>
          </a:prstGeom>
          <a:solidFill>
            <a:srgbClr val="F7F0E4"/>
          </a:solidFill>
          <a:ln/>
        </p:spPr>
      </p:sp>
      <p:sp>
        <p:nvSpPr>
          <p:cNvPr id="29" name="cake-2-11"/>
          <p:cNvSpPr/>
          <p:nvPr/>
        </p:nvSpPr>
        <p:spPr>
          <a:xfrm>
            <a:off x="10362941" y="2412990"/>
            <a:ext cx="206853" cy="206853"/>
          </a:xfrm>
          <a:prstGeom prst="rect">
            <a:avLst/>
          </a:prstGeom>
          <a:solidFill>
            <a:srgbClr val="F7F0E4"/>
          </a:solidFill>
          <a:ln/>
        </p:spPr>
      </p:sp>
      <p:sp>
        <p:nvSpPr>
          <p:cNvPr id="30" name="cake-2-12"/>
          <p:cNvSpPr/>
          <p:nvPr/>
        </p:nvSpPr>
        <p:spPr>
          <a:xfrm>
            <a:off x="10566136" y="2412990"/>
            <a:ext cx="206853" cy="206853"/>
          </a:xfrm>
          <a:prstGeom prst="rect">
            <a:avLst/>
          </a:prstGeom>
          <a:solidFill>
            <a:srgbClr val="F7F0E4"/>
          </a:solidFill>
          <a:ln/>
        </p:spPr>
      </p:sp>
      <p:sp>
        <p:nvSpPr>
          <p:cNvPr id="31" name="cake-2-13"/>
          <p:cNvSpPr/>
          <p:nvPr/>
        </p:nvSpPr>
        <p:spPr>
          <a:xfrm>
            <a:off x="10769331" y="2412990"/>
            <a:ext cx="206853" cy="206853"/>
          </a:xfrm>
          <a:prstGeom prst="rect">
            <a:avLst/>
          </a:prstGeom>
          <a:solidFill>
            <a:srgbClr val="F7F0E4"/>
          </a:solidFill>
          <a:ln/>
        </p:spPr>
      </p:sp>
      <p:sp>
        <p:nvSpPr>
          <p:cNvPr id="32" name="cake-2-14"/>
          <p:cNvSpPr/>
          <p:nvPr/>
        </p:nvSpPr>
        <p:spPr>
          <a:xfrm>
            <a:off x="10972526" y="2412990"/>
            <a:ext cx="206853" cy="206853"/>
          </a:xfrm>
          <a:prstGeom prst="rect">
            <a:avLst/>
          </a:prstGeom>
          <a:solidFill>
            <a:srgbClr val="F7F0E4"/>
          </a:solidFill>
          <a:ln/>
        </p:spPr>
      </p:sp>
      <p:sp>
        <p:nvSpPr>
          <p:cNvPr id="33" name="cake-2-15"/>
          <p:cNvSpPr/>
          <p:nvPr/>
        </p:nvSpPr>
        <p:spPr>
          <a:xfrm>
            <a:off x="11175721" y="2412990"/>
            <a:ext cx="206853" cy="206853"/>
          </a:xfrm>
          <a:prstGeom prst="rect">
            <a:avLst/>
          </a:prstGeom>
          <a:solidFill>
            <a:srgbClr val="F7F0E4"/>
          </a:solidFill>
          <a:ln/>
        </p:spPr>
      </p:sp>
      <p:sp>
        <p:nvSpPr>
          <p:cNvPr id="34" name="cake-3-0"/>
          <p:cNvSpPr/>
          <p:nvPr/>
        </p:nvSpPr>
        <p:spPr>
          <a:xfrm>
            <a:off x="8127797" y="2616185"/>
            <a:ext cx="206853" cy="206853"/>
          </a:xfrm>
          <a:prstGeom prst="rect">
            <a:avLst/>
          </a:prstGeom>
          <a:solidFill>
            <a:srgbClr val="F7F0E4"/>
          </a:solidFill>
          <a:ln/>
        </p:spPr>
      </p:sp>
      <p:sp>
        <p:nvSpPr>
          <p:cNvPr id="35" name="cake-3-1"/>
          <p:cNvSpPr/>
          <p:nvPr/>
        </p:nvSpPr>
        <p:spPr>
          <a:xfrm>
            <a:off x="8330992" y="2616185"/>
            <a:ext cx="206853" cy="206853"/>
          </a:xfrm>
          <a:prstGeom prst="rect">
            <a:avLst/>
          </a:prstGeom>
          <a:solidFill>
            <a:srgbClr val="F7F0E4"/>
          </a:solidFill>
          <a:ln/>
        </p:spPr>
      </p:sp>
      <p:sp>
        <p:nvSpPr>
          <p:cNvPr id="36" name="cake-3-2"/>
          <p:cNvSpPr/>
          <p:nvPr/>
        </p:nvSpPr>
        <p:spPr>
          <a:xfrm>
            <a:off x="8534187" y="2616185"/>
            <a:ext cx="206853" cy="206853"/>
          </a:xfrm>
          <a:prstGeom prst="rect">
            <a:avLst/>
          </a:prstGeom>
          <a:solidFill>
            <a:srgbClr val="F7F0E4"/>
          </a:solidFill>
          <a:ln/>
        </p:spPr>
      </p:sp>
      <p:sp>
        <p:nvSpPr>
          <p:cNvPr id="37" name="cake-3-3"/>
          <p:cNvSpPr/>
          <p:nvPr/>
        </p:nvSpPr>
        <p:spPr>
          <a:xfrm>
            <a:off x="8737382" y="2616185"/>
            <a:ext cx="206853" cy="206853"/>
          </a:xfrm>
          <a:prstGeom prst="rect">
            <a:avLst/>
          </a:prstGeom>
          <a:solidFill>
            <a:srgbClr val="F7F0E4"/>
          </a:solidFill>
          <a:ln/>
        </p:spPr>
      </p:sp>
      <p:sp>
        <p:nvSpPr>
          <p:cNvPr id="38" name="cake-3-4"/>
          <p:cNvSpPr/>
          <p:nvPr/>
        </p:nvSpPr>
        <p:spPr>
          <a:xfrm>
            <a:off x="8940576" y="2616185"/>
            <a:ext cx="206853" cy="206853"/>
          </a:xfrm>
          <a:prstGeom prst="rect">
            <a:avLst/>
          </a:prstGeom>
          <a:solidFill>
            <a:srgbClr val="F7F0E4"/>
          </a:solidFill>
          <a:ln/>
        </p:spPr>
      </p:sp>
      <p:sp>
        <p:nvSpPr>
          <p:cNvPr id="39" name="cake-3-5"/>
          <p:cNvSpPr/>
          <p:nvPr/>
        </p:nvSpPr>
        <p:spPr>
          <a:xfrm>
            <a:off x="9143771" y="2616185"/>
            <a:ext cx="206853" cy="206853"/>
          </a:xfrm>
          <a:prstGeom prst="rect">
            <a:avLst/>
          </a:prstGeom>
          <a:solidFill>
            <a:srgbClr val="E2D5C1"/>
          </a:solidFill>
          <a:ln/>
        </p:spPr>
      </p:sp>
      <p:sp>
        <p:nvSpPr>
          <p:cNvPr id="40" name="cake-3-6"/>
          <p:cNvSpPr/>
          <p:nvPr/>
        </p:nvSpPr>
        <p:spPr>
          <a:xfrm>
            <a:off x="9346966" y="2616185"/>
            <a:ext cx="206853" cy="206853"/>
          </a:xfrm>
          <a:prstGeom prst="rect">
            <a:avLst/>
          </a:prstGeom>
          <a:solidFill>
            <a:srgbClr val="F7F0E4"/>
          </a:solidFill>
          <a:ln/>
        </p:spPr>
      </p:sp>
      <p:sp>
        <p:nvSpPr>
          <p:cNvPr id="41" name="cake-3-7"/>
          <p:cNvSpPr/>
          <p:nvPr/>
        </p:nvSpPr>
        <p:spPr>
          <a:xfrm>
            <a:off x="9550161" y="2616185"/>
            <a:ext cx="206853" cy="206853"/>
          </a:xfrm>
          <a:prstGeom prst="rect">
            <a:avLst/>
          </a:prstGeom>
          <a:solidFill>
            <a:srgbClr val="F7F0E4"/>
          </a:solidFill>
          <a:ln/>
        </p:spPr>
      </p:sp>
      <p:sp>
        <p:nvSpPr>
          <p:cNvPr id="42" name="cake-3-8"/>
          <p:cNvSpPr/>
          <p:nvPr/>
        </p:nvSpPr>
        <p:spPr>
          <a:xfrm>
            <a:off x="9753356" y="2616185"/>
            <a:ext cx="206853" cy="206853"/>
          </a:xfrm>
          <a:prstGeom prst="rect">
            <a:avLst/>
          </a:prstGeom>
          <a:solidFill>
            <a:srgbClr val="F7F0E4"/>
          </a:solidFill>
          <a:ln/>
        </p:spPr>
      </p:sp>
      <p:sp>
        <p:nvSpPr>
          <p:cNvPr id="43" name="cake-3-9"/>
          <p:cNvSpPr/>
          <p:nvPr/>
        </p:nvSpPr>
        <p:spPr>
          <a:xfrm>
            <a:off x="9956551" y="2616185"/>
            <a:ext cx="206853" cy="206853"/>
          </a:xfrm>
          <a:prstGeom prst="rect">
            <a:avLst/>
          </a:prstGeom>
          <a:solidFill>
            <a:srgbClr val="F7F0E4"/>
          </a:solidFill>
          <a:ln/>
        </p:spPr>
      </p:sp>
      <p:sp>
        <p:nvSpPr>
          <p:cNvPr id="44" name="cake-3-10"/>
          <p:cNvSpPr/>
          <p:nvPr/>
        </p:nvSpPr>
        <p:spPr>
          <a:xfrm>
            <a:off x="10159746" y="2616185"/>
            <a:ext cx="206853" cy="206853"/>
          </a:xfrm>
          <a:prstGeom prst="rect">
            <a:avLst/>
          </a:prstGeom>
          <a:solidFill>
            <a:srgbClr val="F7F0E4"/>
          </a:solidFill>
          <a:ln/>
        </p:spPr>
      </p:sp>
      <p:sp>
        <p:nvSpPr>
          <p:cNvPr id="45" name="cake-3-11"/>
          <p:cNvSpPr/>
          <p:nvPr/>
        </p:nvSpPr>
        <p:spPr>
          <a:xfrm>
            <a:off x="10362941" y="2616185"/>
            <a:ext cx="206853" cy="206853"/>
          </a:xfrm>
          <a:prstGeom prst="rect">
            <a:avLst/>
          </a:prstGeom>
          <a:solidFill>
            <a:srgbClr val="F7F0E4"/>
          </a:solidFill>
          <a:ln/>
        </p:spPr>
      </p:sp>
      <p:sp>
        <p:nvSpPr>
          <p:cNvPr id="46" name="cake-3-12"/>
          <p:cNvSpPr/>
          <p:nvPr/>
        </p:nvSpPr>
        <p:spPr>
          <a:xfrm>
            <a:off x="10566136" y="2616185"/>
            <a:ext cx="206853" cy="206853"/>
          </a:xfrm>
          <a:prstGeom prst="rect">
            <a:avLst/>
          </a:prstGeom>
          <a:solidFill>
            <a:srgbClr val="F7F0E4"/>
          </a:solidFill>
          <a:ln/>
        </p:spPr>
      </p:sp>
      <p:sp>
        <p:nvSpPr>
          <p:cNvPr id="47" name="cake-3-13"/>
          <p:cNvSpPr/>
          <p:nvPr/>
        </p:nvSpPr>
        <p:spPr>
          <a:xfrm>
            <a:off x="10769331" y="2616185"/>
            <a:ext cx="206853" cy="206853"/>
          </a:xfrm>
          <a:prstGeom prst="rect">
            <a:avLst/>
          </a:prstGeom>
          <a:solidFill>
            <a:srgbClr val="F7F0E4"/>
          </a:solidFill>
          <a:ln/>
        </p:spPr>
      </p:sp>
      <p:sp>
        <p:nvSpPr>
          <p:cNvPr id="48" name="cake-3-14"/>
          <p:cNvSpPr/>
          <p:nvPr/>
        </p:nvSpPr>
        <p:spPr>
          <a:xfrm>
            <a:off x="10972526" y="2616185"/>
            <a:ext cx="206853" cy="206853"/>
          </a:xfrm>
          <a:prstGeom prst="rect">
            <a:avLst/>
          </a:prstGeom>
          <a:solidFill>
            <a:srgbClr val="FFFBF4"/>
          </a:solidFill>
          <a:ln/>
        </p:spPr>
      </p:sp>
      <p:sp>
        <p:nvSpPr>
          <p:cNvPr id="49" name="cake-3-15"/>
          <p:cNvSpPr/>
          <p:nvPr/>
        </p:nvSpPr>
        <p:spPr>
          <a:xfrm>
            <a:off x="11175721" y="2616185"/>
            <a:ext cx="206853" cy="206853"/>
          </a:xfrm>
          <a:prstGeom prst="rect">
            <a:avLst/>
          </a:prstGeom>
          <a:solidFill>
            <a:srgbClr val="F7F0E4"/>
          </a:solidFill>
          <a:ln/>
        </p:spPr>
      </p:sp>
      <p:sp>
        <p:nvSpPr>
          <p:cNvPr id="50" name="cake-4-0"/>
          <p:cNvSpPr/>
          <p:nvPr/>
        </p:nvSpPr>
        <p:spPr>
          <a:xfrm>
            <a:off x="8127797" y="2819380"/>
            <a:ext cx="206853" cy="206853"/>
          </a:xfrm>
          <a:prstGeom prst="rect">
            <a:avLst/>
          </a:prstGeom>
          <a:solidFill>
            <a:srgbClr val="F7F0E4"/>
          </a:solidFill>
          <a:ln/>
        </p:spPr>
      </p:sp>
      <p:sp>
        <p:nvSpPr>
          <p:cNvPr id="51" name="cake-4-1"/>
          <p:cNvSpPr/>
          <p:nvPr/>
        </p:nvSpPr>
        <p:spPr>
          <a:xfrm>
            <a:off x="8330992" y="2819380"/>
            <a:ext cx="206853" cy="206853"/>
          </a:xfrm>
          <a:prstGeom prst="rect">
            <a:avLst/>
          </a:prstGeom>
          <a:solidFill>
            <a:srgbClr val="F7F0E4"/>
          </a:solidFill>
          <a:ln/>
        </p:spPr>
      </p:sp>
      <p:sp>
        <p:nvSpPr>
          <p:cNvPr id="52" name="cake-4-2"/>
          <p:cNvSpPr/>
          <p:nvPr/>
        </p:nvSpPr>
        <p:spPr>
          <a:xfrm>
            <a:off x="8534187" y="2819380"/>
            <a:ext cx="206853" cy="206853"/>
          </a:xfrm>
          <a:prstGeom prst="rect">
            <a:avLst/>
          </a:prstGeom>
          <a:solidFill>
            <a:srgbClr val="E2D5C1"/>
          </a:solidFill>
          <a:ln/>
        </p:spPr>
      </p:sp>
      <p:sp>
        <p:nvSpPr>
          <p:cNvPr id="53" name="cake-4-3"/>
          <p:cNvSpPr/>
          <p:nvPr/>
        </p:nvSpPr>
        <p:spPr>
          <a:xfrm>
            <a:off x="8737382" y="2819380"/>
            <a:ext cx="206853" cy="206853"/>
          </a:xfrm>
          <a:prstGeom prst="rect">
            <a:avLst/>
          </a:prstGeom>
          <a:solidFill>
            <a:srgbClr val="F7F0E4"/>
          </a:solidFill>
          <a:ln/>
        </p:spPr>
      </p:sp>
      <p:sp>
        <p:nvSpPr>
          <p:cNvPr id="54" name="cake-4-4"/>
          <p:cNvSpPr/>
          <p:nvPr/>
        </p:nvSpPr>
        <p:spPr>
          <a:xfrm>
            <a:off x="8940576" y="2819380"/>
            <a:ext cx="206853" cy="206853"/>
          </a:xfrm>
          <a:prstGeom prst="rect">
            <a:avLst/>
          </a:prstGeom>
          <a:solidFill>
            <a:srgbClr val="F7F0E4"/>
          </a:solidFill>
          <a:ln/>
        </p:spPr>
      </p:sp>
      <p:sp>
        <p:nvSpPr>
          <p:cNvPr id="55" name="cake-4-5"/>
          <p:cNvSpPr/>
          <p:nvPr/>
        </p:nvSpPr>
        <p:spPr>
          <a:xfrm>
            <a:off x="9143771" y="2819380"/>
            <a:ext cx="206853" cy="206853"/>
          </a:xfrm>
          <a:prstGeom prst="rect">
            <a:avLst/>
          </a:prstGeom>
          <a:solidFill>
            <a:srgbClr val="F7F0E4"/>
          </a:solidFill>
          <a:ln/>
        </p:spPr>
      </p:sp>
      <p:sp>
        <p:nvSpPr>
          <p:cNvPr id="56" name="cake-4-6"/>
          <p:cNvSpPr/>
          <p:nvPr/>
        </p:nvSpPr>
        <p:spPr>
          <a:xfrm>
            <a:off x="9346966" y="2819380"/>
            <a:ext cx="206853" cy="206853"/>
          </a:xfrm>
          <a:prstGeom prst="rect">
            <a:avLst/>
          </a:prstGeom>
          <a:solidFill>
            <a:srgbClr val="F7F0E4"/>
          </a:solidFill>
          <a:ln/>
        </p:spPr>
      </p:sp>
      <p:sp>
        <p:nvSpPr>
          <p:cNvPr id="57" name="cake-4-7"/>
          <p:cNvSpPr/>
          <p:nvPr/>
        </p:nvSpPr>
        <p:spPr>
          <a:xfrm>
            <a:off x="9550161" y="2819380"/>
            <a:ext cx="206853" cy="206853"/>
          </a:xfrm>
          <a:prstGeom prst="rect">
            <a:avLst/>
          </a:prstGeom>
          <a:solidFill>
            <a:srgbClr val="F7F0E4"/>
          </a:solidFill>
          <a:ln/>
        </p:spPr>
      </p:sp>
      <p:sp>
        <p:nvSpPr>
          <p:cNvPr id="58" name="cake-4-8"/>
          <p:cNvSpPr/>
          <p:nvPr/>
        </p:nvSpPr>
        <p:spPr>
          <a:xfrm>
            <a:off x="9753356" y="2819380"/>
            <a:ext cx="206853" cy="206853"/>
          </a:xfrm>
          <a:prstGeom prst="rect">
            <a:avLst/>
          </a:prstGeom>
          <a:solidFill>
            <a:srgbClr val="F7F0E4"/>
          </a:solidFill>
          <a:ln/>
        </p:spPr>
      </p:sp>
      <p:sp>
        <p:nvSpPr>
          <p:cNvPr id="59" name="cake-4-9"/>
          <p:cNvSpPr/>
          <p:nvPr/>
        </p:nvSpPr>
        <p:spPr>
          <a:xfrm>
            <a:off x="9956551" y="2819380"/>
            <a:ext cx="206853" cy="206853"/>
          </a:xfrm>
          <a:prstGeom prst="rect">
            <a:avLst/>
          </a:prstGeom>
          <a:solidFill>
            <a:srgbClr val="F7F0E4"/>
          </a:solidFill>
          <a:ln/>
        </p:spPr>
      </p:sp>
      <p:sp>
        <p:nvSpPr>
          <p:cNvPr id="60" name="cake-4-10"/>
          <p:cNvSpPr/>
          <p:nvPr/>
        </p:nvSpPr>
        <p:spPr>
          <a:xfrm>
            <a:off x="10159746" y="2819380"/>
            <a:ext cx="206853" cy="206853"/>
          </a:xfrm>
          <a:prstGeom prst="rect">
            <a:avLst/>
          </a:prstGeom>
          <a:solidFill>
            <a:srgbClr val="F7F0E4"/>
          </a:solidFill>
          <a:ln/>
        </p:spPr>
      </p:sp>
      <p:sp>
        <p:nvSpPr>
          <p:cNvPr id="61" name="cake-4-11"/>
          <p:cNvSpPr/>
          <p:nvPr/>
        </p:nvSpPr>
        <p:spPr>
          <a:xfrm>
            <a:off x="10362941" y="2819380"/>
            <a:ext cx="206853" cy="206853"/>
          </a:xfrm>
          <a:prstGeom prst="rect">
            <a:avLst/>
          </a:prstGeom>
          <a:solidFill>
            <a:srgbClr val="F7F0E4"/>
          </a:solidFill>
          <a:ln/>
        </p:spPr>
      </p:sp>
      <p:sp>
        <p:nvSpPr>
          <p:cNvPr id="62" name="cake-4-12"/>
          <p:cNvSpPr/>
          <p:nvPr/>
        </p:nvSpPr>
        <p:spPr>
          <a:xfrm>
            <a:off x="10566136" y="2819380"/>
            <a:ext cx="206853" cy="206853"/>
          </a:xfrm>
          <a:prstGeom prst="rect">
            <a:avLst/>
          </a:prstGeom>
          <a:solidFill>
            <a:srgbClr val="E2D5C1"/>
          </a:solidFill>
          <a:ln/>
        </p:spPr>
      </p:sp>
      <p:sp>
        <p:nvSpPr>
          <p:cNvPr id="63" name="cake-4-13"/>
          <p:cNvSpPr/>
          <p:nvPr/>
        </p:nvSpPr>
        <p:spPr>
          <a:xfrm>
            <a:off x="10769331" y="2819380"/>
            <a:ext cx="206853" cy="206853"/>
          </a:xfrm>
          <a:prstGeom prst="rect">
            <a:avLst/>
          </a:prstGeom>
          <a:solidFill>
            <a:srgbClr val="F7F0E4"/>
          </a:solidFill>
          <a:ln/>
        </p:spPr>
      </p:sp>
      <p:sp>
        <p:nvSpPr>
          <p:cNvPr id="64" name="cake-4-14"/>
          <p:cNvSpPr/>
          <p:nvPr/>
        </p:nvSpPr>
        <p:spPr>
          <a:xfrm>
            <a:off x="10972526" y="2819380"/>
            <a:ext cx="206853" cy="206853"/>
          </a:xfrm>
          <a:prstGeom prst="rect">
            <a:avLst/>
          </a:prstGeom>
          <a:solidFill>
            <a:srgbClr val="F7F0E4"/>
          </a:solidFill>
          <a:ln/>
        </p:spPr>
      </p:sp>
      <p:sp>
        <p:nvSpPr>
          <p:cNvPr id="65" name="cake-4-15"/>
          <p:cNvSpPr/>
          <p:nvPr/>
        </p:nvSpPr>
        <p:spPr>
          <a:xfrm>
            <a:off x="11175721" y="2819380"/>
            <a:ext cx="206853" cy="206853"/>
          </a:xfrm>
          <a:prstGeom prst="rect">
            <a:avLst/>
          </a:prstGeom>
          <a:solidFill>
            <a:srgbClr val="F7F0E4"/>
          </a:solidFill>
          <a:ln/>
        </p:spPr>
      </p:sp>
      <p:sp>
        <p:nvSpPr>
          <p:cNvPr id="66" name="cake-5-0"/>
          <p:cNvSpPr/>
          <p:nvPr/>
        </p:nvSpPr>
        <p:spPr>
          <a:xfrm>
            <a:off x="8127797" y="3022575"/>
            <a:ext cx="206853" cy="206853"/>
          </a:xfrm>
          <a:prstGeom prst="rect">
            <a:avLst/>
          </a:prstGeom>
          <a:solidFill>
            <a:srgbClr val="F7F0E4"/>
          </a:solidFill>
          <a:ln/>
        </p:spPr>
      </p:sp>
      <p:sp>
        <p:nvSpPr>
          <p:cNvPr id="67" name="cake-5-1"/>
          <p:cNvSpPr/>
          <p:nvPr/>
        </p:nvSpPr>
        <p:spPr>
          <a:xfrm>
            <a:off x="8330992" y="3022575"/>
            <a:ext cx="206853" cy="206853"/>
          </a:xfrm>
          <a:prstGeom prst="rect">
            <a:avLst/>
          </a:prstGeom>
          <a:solidFill>
            <a:srgbClr val="F7F0E4"/>
          </a:solidFill>
          <a:ln/>
        </p:spPr>
      </p:sp>
      <p:sp>
        <p:nvSpPr>
          <p:cNvPr id="68" name="cake-5-2"/>
          <p:cNvSpPr/>
          <p:nvPr/>
        </p:nvSpPr>
        <p:spPr>
          <a:xfrm>
            <a:off x="8534187" y="3022575"/>
            <a:ext cx="206853" cy="206853"/>
          </a:xfrm>
          <a:prstGeom prst="rect">
            <a:avLst/>
          </a:prstGeom>
          <a:solidFill>
            <a:srgbClr val="C98A4B"/>
          </a:solidFill>
          <a:ln/>
        </p:spPr>
      </p:sp>
      <p:sp>
        <p:nvSpPr>
          <p:cNvPr id="69" name="cake-5-3"/>
          <p:cNvSpPr/>
          <p:nvPr/>
        </p:nvSpPr>
        <p:spPr>
          <a:xfrm>
            <a:off x="8737382" y="3022575"/>
            <a:ext cx="206853" cy="206853"/>
          </a:xfrm>
          <a:prstGeom prst="rect">
            <a:avLst/>
          </a:prstGeom>
          <a:solidFill>
            <a:srgbClr val="C98A4B"/>
          </a:solidFill>
          <a:ln/>
        </p:spPr>
      </p:sp>
      <p:sp>
        <p:nvSpPr>
          <p:cNvPr id="70" name="cake-5-4"/>
          <p:cNvSpPr/>
          <p:nvPr/>
        </p:nvSpPr>
        <p:spPr>
          <a:xfrm>
            <a:off x="8940576" y="3022575"/>
            <a:ext cx="206853" cy="206853"/>
          </a:xfrm>
          <a:prstGeom prst="rect">
            <a:avLst/>
          </a:prstGeom>
          <a:solidFill>
            <a:srgbClr val="F7F0E4"/>
          </a:solidFill>
          <a:ln/>
        </p:spPr>
      </p:sp>
      <p:sp>
        <p:nvSpPr>
          <p:cNvPr id="71" name="cake-5-5"/>
          <p:cNvSpPr/>
          <p:nvPr/>
        </p:nvSpPr>
        <p:spPr>
          <a:xfrm>
            <a:off x="9143771" y="3022575"/>
            <a:ext cx="206853" cy="206853"/>
          </a:xfrm>
          <a:prstGeom prst="rect">
            <a:avLst/>
          </a:prstGeom>
          <a:solidFill>
            <a:srgbClr val="F7F0E4"/>
          </a:solidFill>
          <a:ln/>
        </p:spPr>
      </p:sp>
      <p:sp>
        <p:nvSpPr>
          <p:cNvPr id="72" name="cake-5-6"/>
          <p:cNvSpPr/>
          <p:nvPr/>
        </p:nvSpPr>
        <p:spPr>
          <a:xfrm>
            <a:off x="9346966" y="3022575"/>
            <a:ext cx="206853" cy="206853"/>
          </a:xfrm>
          <a:prstGeom prst="rect">
            <a:avLst/>
          </a:prstGeom>
          <a:solidFill>
            <a:srgbClr val="F7F0E4"/>
          </a:solidFill>
          <a:ln/>
        </p:spPr>
      </p:sp>
      <p:sp>
        <p:nvSpPr>
          <p:cNvPr id="73" name="cake-5-7"/>
          <p:cNvSpPr/>
          <p:nvPr/>
        </p:nvSpPr>
        <p:spPr>
          <a:xfrm>
            <a:off x="9550161" y="3022575"/>
            <a:ext cx="206853" cy="206853"/>
          </a:xfrm>
          <a:prstGeom prst="rect">
            <a:avLst/>
          </a:prstGeom>
          <a:solidFill>
            <a:srgbClr val="C98A4B"/>
          </a:solidFill>
          <a:ln/>
        </p:spPr>
      </p:sp>
      <p:sp>
        <p:nvSpPr>
          <p:cNvPr id="74" name="cake-5-8"/>
          <p:cNvSpPr/>
          <p:nvPr/>
        </p:nvSpPr>
        <p:spPr>
          <a:xfrm>
            <a:off x="9753356" y="3022575"/>
            <a:ext cx="206853" cy="206853"/>
          </a:xfrm>
          <a:prstGeom prst="rect">
            <a:avLst/>
          </a:prstGeom>
          <a:solidFill>
            <a:srgbClr val="C98A4B"/>
          </a:solidFill>
          <a:ln/>
        </p:spPr>
      </p:sp>
      <p:sp>
        <p:nvSpPr>
          <p:cNvPr id="75" name="cake-5-9"/>
          <p:cNvSpPr/>
          <p:nvPr/>
        </p:nvSpPr>
        <p:spPr>
          <a:xfrm>
            <a:off x="9956551" y="3022575"/>
            <a:ext cx="206853" cy="206853"/>
          </a:xfrm>
          <a:prstGeom prst="rect">
            <a:avLst/>
          </a:prstGeom>
          <a:solidFill>
            <a:srgbClr val="F7F0E4"/>
          </a:solidFill>
          <a:ln/>
        </p:spPr>
      </p:sp>
      <p:sp>
        <p:nvSpPr>
          <p:cNvPr id="76" name="cake-5-10"/>
          <p:cNvSpPr/>
          <p:nvPr/>
        </p:nvSpPr>
        <p:spPr>
          <a:xfrm>
            <a:off x="10159746" y="3022575"/>
            <a:ext cx="206853" cy="206853"/>
          </a:xfrm>
          <a:prstGeom prst="rect">
            <a:avLst/>
          </a:prstGeom>
          <a:solidFill>
            <a:srgbClr val="F7F0E4"/>
          </a:solidFill>
          <a:ln/>
        </p:spPr>
      </p:sp>
      <p:sp>
        <p:nvSpPr>
          <p:cNvPr id="77" name="cake-5-11"/>
          <p:cNvSpPr/>
          <p:nvPr/>
        </p:nvSpPr>
        <p:spPr>
          <a:xfrm>
            <a:off x="10362941" y="3022575"/>
            <a:ext cx="206853" cy="206853"/>
          </a:xfrm>
          <a:prstGeom prst="rect">
            <a:avLst/>
          </a:prstGeom>
          <a:solidFill>
            <a:srgbClr val="C98A4B"/>
          </a:solidFill>
          <a:ln/>
        </p:spPr>
      </p:sp>
      <p:sp>
        <p:nvSpPr>
          <p:cNvPr id="78" name="cake-5-12"/>
          <p:cNvSpPr/>
          <p:nvPr/>
        </p:nvSpPr>
        <p:spPr>
          <a:xfrm>
            <a:off x="10566136" y="3022575"/>
            <a:ext cx="206853" cy="206853"/>
          </a:xfrm>
          <a:prstGeom prst="rect">
            <a:avLst/>
          </a:prstGeom>
          <a:solidFill>
            <a:srgbClr val="C98A4B"/>
          </a:solidFill>
          <a:ln/>
        </p:spPr>
      </p:sp>
      <p:sp>
        <p:nvSpPr>
          <p:cNvPr id="79" name="cake-5-13"/>
          <p:cNvSpPr/>
          <p:nvPr/>
        </p:nvSpPr>
        <p:spPr>
          <a:xfrm>
            <a:off x="10769331" y="3022575"/>
            <a:ext cx="206853" cy="206853"/>
          </a:xfrm>
          <a:prstGeom prst="rect">
            <a:avLst/>
          </a:prstGeom>
          <a:solidFill>
            <a:srgbClr val="F7F0E4"/>
          </a:solidFill>
          <a:ln/>
        </p:spPr>
      </p:sp>
      <p:sp>
        <p:nvSpPr>
          <p:cNvPr id="80" name="cake-5-14"/>
          <p:cNvSpPr/>
          <p:nvPr/>
        </p:nvSpPr>
        <p:spPr>
          <a:xfrm>
            <a:off x="10972526" y="3022575"/>
            <a:ext cx="206853" cy="206853"/>
          </a:xfrm>
          <a:prstGeom prst="rect">
            <a:avLst/>
          </a:prstGeom>
          <a:solidFill>
            <a:srgbClr val="F7F0E4"/>
          </a:solidFill>
          <a:ln/>
        </p:spPr>
      </p:sp>
      <p:sp>
        <p:nvSpPr>
          <p:cNvPr id="81" name="cake-5-15"/>
          <p:cNvSpPr/>
          <p:nvPr/>
        </p:nvSpPr>
        <p:spPr>
          <a:xfrm>
            <a:off x="11175721" y="3022575"/>
            <a:ext cx="206853" cy="206853"/>
          </a:xfrm>
          <a:prstGeom prst="rect">
            <a:avLst/>
          </a:prstGeom>
          <a:solidFill>
            <a:srgbClr val="C98A4B"/>
          </a:solidFill>
          <a:ln/>
        </p:spPr>
      </p:sp>
      <p:sp>
        <p:nvSpPr>
          <p:cNvPr id="82" name="cake-6-0"/>
          <p:cNvSpPr/>
          <p:nvPr/>
        </p:nvSpPr>
        <p:spPr>
          <a:xfrm>
            <a:off x="8127797" y="3225770"/>
            <a:ext cx="206853" cy="206853"/>
          </a:xfrm>
          <a:prstGeom prst="rect">
            <a:avLst/>
          </a:prstGeom>
          <a:solidFill>
            <a:srgbClr val="C98A4B"/>
          </a:solidFill>
          <a:ln/>
        </p:spPr>
      </p:sp>
      <p:sp>
        <p:nvSpPr>
          <p:cNvPr id="83" name="cake-6-1"/>
          <p:cNvSpPr/>
          <p:nvPr/>
        </p:nvSpPr>
        <p:spPr>
          <a:xfrm>
            <a:off x="8330992" y="3225770"/>
            <a:ext cx="206853" cy="206853"/>
          </a:xfrm>
          <a:prstGeom prst="rect">
            <a:avLst/>
          </a:prstGeom>
          <a:solidFill>
            <a:srgbClr val="E2D5C1"/>
          </a:solidFill>
          <a:ln/>
        </p:spPr>
      </p:sp>
      <p:sp>
        <p:nvSpPr>
          <p:cNvPr id="84" name="cake-6-2"/>
          <p:cNvSpPr/>
          <p:nvPr/>
        </p:nvSpPr>
        <p:spPr>
          <a:xfrm>
            <a:off x="8534187" y="3225770"/>
            <a:ext cx="206853" cy="206853"/>
          </a:xfrm>
          <a:prstGeom prst="rect">
            <a:avLst/>
          </a:prstGeom>
          <a:solidFill>
            <a:srgbClr val="C98A4B"/>
          </a:solidFill>
          <a:ln/>
        </p:spPr>
      </p:sp>
      <p:sp>
        <p:nvSpPr>
          <p:cNvPr id="85" name="cake-6-3"/>
          <p:cNvSpPr/>
          <p:nvPr/>
        </p:nvSpPr>
        <p:spPr>
          <a:xfrm>
            <a:off x="8737382" y="3225770"/>
            <a:ext cx="206853" cy="206853"/>
          </a:xfrm>
          <a:prstGeom prst="rect">
            <a:avLst/>
          </a:prstGeom>
          <a:solidFill>
            <a:srgbClr val="B0733A"/>
          </a:solidFill>
          <a:ln/>
        </p:spPr>
      </p:sp>
      <p:sp>
        <p:nvSpPr>
          <p:cNvPr id="86" name="cake-6-4"/>
          <p:cNvSpPr/>
          <p:nvPr/>
        </p:nvSpPr>
        <p:spPr>
          <a:xfrm>
            <a:off x="8940576" y="3225770"/>
            <a:ext cx="206853" cy="206853"/>
          </a:xfrm>
          <a:prstGeom prst="rect">
            <a:avLst/>
          </a:prstGeom>
          <a:solidFill>
            <a:srgbClr val="C98A4B"/>
          </a:solidFill>
          <a:ln/>
        </p:spPr>
      </p:sp>
      <p:sp>
        <p:nvSpPr>
          <p:cNvPr id="87" name="cake-6-5"/>
          <p:cNvSpPr/>
          <p:nvPr/>
        </p:nvSpPr>
        <p:spPr>
          <a:xfrm>
            <a:off x="9143771" y="3225770"/>
            <a:ext cx="206853" cy="206853"/>
          </a:xfrm>
          <a:prstGeom prst="rect">
            <a:avLst/>
          </a:prstGeom>
          <a:solidFill>
            <a:srgbClr val="E2D5C1"/>
          </a:solidFill>
          <a:ln/>
        </p:spPr>
      </p:sp>
      <p:sp>
        <p:nvSpPr>
          <p:cNvPr id="88" name="cake-6-6"/>
          <p:cNvSpPr/>
          <p:nvPr/>
        </p:nvSpPr>
        <p:spPr>
          <a:xfrm>
            <a:off x="9346966" y="3225770"/>
            <a:ext cx="206853" cy="206853"/>
          </a:xfrm>
          <a:prstGeom prst="rect">
            <a:avLst/>
          </a:prstGeom>
          <a:solidFill>
            <a:srgbClr val="C98A4B"/>
          </a:solidFill>
          <a:ln/>
        </p:spPr>
      </p:sp>
      <p:sp>
        <p:nvSpPr>
          <p:cNvPr id="89" name="cake-6-7"/>
          <p:cNvSpPr/>
          <p:nvPr/>
        </p:nvSpPr>
        <p:spPr>
          <a:xfrm>
            <a:off x="9550161" y="3225770"/>
            <a:ext cx="206853" cy="206853"/>
          </a:xfrm>
          <a:prstGeom prst="rect">
            <a:avLst/>
          </a:prstGeom>
          <a:solidFill>
            <a:srgbClr val="C98A4B"/>
          </a:solidFill>
          <a:ln/>
        </p:spPr>
      </p:sp>
      <p:sp>
        <p:nvSpPr>
          <p:cNvPr id="90" name="cake-6-8"/>
          <p:cNvSpPr/>
          <p:nvPr/>
        </p:nvSpPr>
        <p:spPr>
          <a:xfrm>
            <a:off x="9753356" y="3225770"/>
            <a:ext cx="206853" cy="206853"/>
          </a:xfrm>
          <a:prstGeom prst="rect">
            <a:avLst/>
          </a:prstGeom>
          <a:solidFill>
            <a:srgbClr val="C98A4B"/>
          </a:solidFill>
          <a:ln/>
        </p:spPr>
      </p:sp>
      <p:sp>
        <p:nvSpPr>
          <p:cNvPr id="91" name="cake-6-9"/>
          <p:cNvSpPr/>
          <p:nvPr/>
        </p:nvSpPr>
        <p:spPr>
          <a:xfrm>
            <a:off x="9956551" y="3225770"/>
            <a:ext cx="206853" cy="206853"/>
          </a:xfrm>
          <a:prstGeom prst="rect">
            <a:avLst/>
          </a:prstGeom>
          <a:solidFill>
            <a:srgbClr val="C98A4B"/>
          </a:solidFill>
          <a:ln/>
        </p:spPr>
      </p:sp>
      <p:sp>
        <p:nvSpPr>
          <p:cNvPr id="92" name="cake-6-10"/>
          <p:cNvSpPr/>
          <p:nvPr/>
        </p:nvSpPr>
        <p:spPr>
          <a:xfrm>
            <a:off x="10159746" y="3225770"/>
            <a:ext cx="206853" cy="206853"/>
          </a:xfrm>
          <a:prstGeom prst="rect">
            <a:avLst/>
          </a:prstGeom>
          <a:solidFill>
            <a:srgbClr val="E2D5C1"/>
          </a:solidFill>
          <a:ln/>
        </p:spPr>
      </p:sp>
      <p:sp>
        <p:nvSpPr>
          <p:cNvPr id="93" name="cake-6-11"/>
          <p:cNvSpPr/>
          <p:nvPr/>
        </p:nvSpPr>
        <p:spPr>
          <a:xfrm>
            <a:off x="10362941" y="3225770"/>
            <a:ext cx="206853" cy="206853"/>
          </a:xfrm>
          <a:prstGeom prst="rect">
            <a:avLst/>
          </a:prstGeom>
          <a:solidFill>
            <a:srgbClr val="C98A4B"/>
          </a:solidFill>
          <a:ln/>
        </p:spPr>
      </p:sp>
      <p:sp>
        <p:nvSpPr>
          <p:cNvPr id="94" name="cake-6-12"/>
          <p:cNvSpPr/>
          <p:nvPr/>
        </p:nvSpPr>
        <p:spPr>
          <a:xfrm>
            <a:off x="10566136" y="3225770"/>
            <a:ext cx="206853" cy="206853"/>
          </a:xfrm>
          <a:prstGeom prst="rect">
            <a:avLst/>
          </a:prstGeom>
          <a:solidFill>
            <a:srgbClr val="B0733A"/>
          </a:solidFill>
          <a:ln/>
        </p:spPr>
      </p:sp>
      <p:sp>
        <p:nvSpPr>
          <p:cNvPr id="95" name="cake-6-13"/>
          <p:cNvSpPr/>
          <p:nvPr/>
        </p:nvSpPr>
        <p:spPr>
          <a:xfrm>
            <a:off x="10769331" y="3225770"/>
            <a:ext cx="206853" cy="206853"/>
          </a:xfrm>
          <a:prstGeom prst="rect">
            <a:avLst/>
          </a:prstGeom>
          <a:solidFill>
            <a:srgbClr val="C98A4B"/>
          </a:solidFill>
          <a:ln/>
        </p:spPr>
      </p:sp>
      <p:sp>
        <p:nvSpPr>
          <p:cNvPr id="96" name="cake-6-14"/>
          <p:cNvSpPr/>
          <p:nvPr/>
        </p:nvSpPr>
        <p:spPr>
          <a:xfrm>
            <a:off x="10972526" y="3225770"/>
            <a:ext cx="206853" cy="206853"/>
          </a:xfrm>
          <a:prstGeom prst="rect">
            <a:avLst/>
          </a:prstGeom>
          <a:solidFill>
            <a:srgbClr val="E2D5C1"/>
          </a:solidFill>
          <a:ln/>
        </p:spPr>
      </p:sp>
      <p:sp>
        <p:nvSpPr>
          <p:cNvPr id="97" name="cake-6-15"/>
          <p:cNvSpPr/>
          <p:nvPr/>
        </p:nvSpPr>
        <p:spPr>
          <a:xfrm>
            <a:off x="11175721" y="3225770"/>
            <a:ext cx="206853" cy="206853"/>
          </a:xfrm>
          <a:prstGeom prst="rect">
            <a:avLst/>
          </a:prstGeom>
          <a:solidFill>
            <a:srgbClr val="C98A4B"/>
          </a:solidFill>
          <a:ln/>
        </p:spPr>
      </p:sp>
      <p:sp>
        <p:nvSpPr>
          <p:cNvPr id="98" name="cake-7-0"/>
          <p:cNvSpPr/>
          <p:nvPr/>
        </p:nvSpPr>
        <p:spPr>
          <a:xfrm>
            <a:off x="8127797" y="3428964"/>
            <a:ext cx="206853" cy="206853"/>
          </a:xfrm>
          <a:prstGeom prst="rect">
            <a:avLst/>
          </a:prstGeom>
          <a:solidFill>
            <a:srgbClr val="C98A4B"/>
          </a:solidFill>
          <a:ln/>
        </p:spPr>
      </p:sp>
      <p:sp>
        <p:nvSpPr>
          <p:cNvPr id="99" name="cake-7-1"/>
          <p:cNvSpPr/>
          <p:nvPr/>
        </p:nvSpPr>
        <p:spPr>
          <a:xfrm>
            <a:off x="8330992" y="3428964"/>
            <a:ext cx="206853" cy="206853"/>
          </a:xfrm>
          <a:prstGeom prst="rect">
            <a:avLst/>
          </a:prstGeom>
          <a:solidFill>
            <a:srgbClr val="C98A4B"/>
          </a:solidFill>
          <a:ln/>
        </p:spPr>
      </p:sp>
      <p:sp>
        <p:nvSpPr>
          <p:cNvPr id="100" name="cake-7-2"/>
          <p:cNvSpPr/>
          <p:nvPr/>
        </p:nvSpPr>
        <p:spPr>
          <a:xfrm>
            <a:off x="8534187" y="3428964"/>
            <a:ext cx="206853" cy="206853"/>
          </a:xfrm>
          <a:prstGeom prst="rect">
            <a:avLst/>
          </a:prstGeom>
          <a:solidFill>
            <a:srgbClr val="C98A4B"/>
          </a:solidFill>
          <a:ln/>
        </p:spPr>
      </p:sp>
      <p:sp>
        <p:nvSpPr>
          <p:cNvPr id="101" name="cake-7-3"/>
          <p:cNvSpPr/>
          <p:nvPr/>
        </p:nvSpPr>
        <p:spPr>
          <a:xfrm>
            <a:off x="8737382" y="3428964"/>
            <a:ext cx="206853" cy="206853"/>
          </a:xfrm>
          <a:prstGeom prst="rect">
            <a:avLst/>
          </a:prstGeom>
          <a:solidFill>
            <a:srgbClr val="C98A4B"/>
          </a:solidFill>
          <a:ln/>
        </p:spPr>
      </p:sp>
      <p:sp>
        <p:nvSpPr>
          <p:cNvPr id="102" name="cake-7-4"/>
          <p:cNvSpPr/>
          <p:nvPr/>
        </p:nvSpPr>
        <p:spPr>
          <a:xfrm>
            <a:off x="8940576" y="3428964"/>
            <a:ext cx="206853" cy="206853"/>
          </a:xfrm>
          <a:prstGeom prst="rect">
            <a:avLst/>
          </a:prstGeom>
          <a:solidFill>
            <a:srgbClr val="C98A4B"/>
          </a:solidFill>
          <a:ln/>
        </p:spPr>
      </p:sp>
      <p:sp>
        <p:nvSpPr>
          <p:cNvPr id="103" name="cake-7-5"/>
          <p:cNvSpPr/>
          <p:nvPr/>
        </p:nvSpPr>
        <p:spPr>
          <a:xfrm>
            <a:off x="9143771" y="3428964"/>
            <a:ext cx="206853" cy="206853"/>
          </a:xfrm>
          <a:prstGeom prst="rect">
            <a:avLst/>
          </a:prstGeom>
          <a:solidFill>
            <a:srgbClr val="C98A4B"/>
          </a:solidFill>
          <a:ln/>
        </p:spPr>
      </p:sp>
      <p:sp>
        <p:nvSpPr>
          <p:cNvPr id="104" name="cake-7-6"/>
          <p:cNvSpPr/>
          <p:nvPr/>
        </p:nvSpPr>
        <p:spPr>
          <a:xfrm>
            <a:off x="9346966" y="3428964"/>
            <a:ext cx="206853" cy="206853"/>
          </a:xfrm>
          <a:prstGeom prst="rect">
            <a:avLst/>
          </a:prstGeom>
          <a:solidFill>
            <a:srgbClr val="C98A4B"/>
          </a:solidFill>
          <a:ln/>
        </p:spPr>
      </p:sp>
      <p:sp>
        <p:nvSpPr>
          <p:cNvPr id="105" name="cake-7-7"/>
          <p:cNvSpPr/>
          <p:nvPr/>
        </p:nvSpPr>
        <p:spPr>
          <a:xfrm>
            <a:off x="9550161" y="3428964"/>
            <a:ext cx="206853" cy="206853"/>
          </a:xfrm>
          <a:prstGeom prst="rect">
            <a:avLst/>
          </a:prstGeom>
          <a:solidFill>
            <a:srgbClr val="B0733A"/>
          </a:solidFill>
          <a:ln/>
        </p:spPr>
      </p:sp>
      <p:sp>
        <p:nvSpPr>
          <p:cNvPr id="106" name="cake-7-8"/>
          <p:cNvSpPr/>
          <p:nvPr/>
        </p:nvSpPr>
        <p:spPr>
          <a:xfrm>
            <a:off x="9753356" y="3428964"/>
            <a:ext cx="206853" cy="206853"/>
          </a:xfrm>
          <a:prstGeom prst="rect">
            <a:avLst/>
          </a:prstGeom>
          <a:solidFill>
            <a:srgbClr val="C98A4B"/>
          </a:solidFill>
          <a:ln/>
        </p:spPr>
      </p:sp>
      <p:sp>
        <p:nvSpPr>
          <p:cNvPr id="107" name="cake-7-9"/>
          <p:cNvSpPr/>
          <p:nvPr/>
        </p:nvSpPr>
        <p:spPr>
          <a:xfrm>
            <a:off x="9956551" y="3428964"/>
            <a:ext cx="206853" cy="206853"/>
          </a:xfrm>
          <a:prstGeom prst="rect">
            <a:avLst/>
          </a:prstGeom>
          <a:solidFill>
            <a:srgbClr val="C98A4B"/>
          </a:solidFill>
          <a:ln/>
        </p:spPr>
      </p:sp>
      <p:sp>
        <p:nvSpPr>
          <p:cNvPr id="108" name="cake-7-10"/>
          <p:cNvSpPr/>
          <p:nvPr/>
        </p:nvSpPr>
        <p:spPr>
          <a:xfrm>
            <a:off x="10159746" y="3428964"/>
            <a:ext cx="206853" cy="206853"/>
          </a:xfrm>
          <a:prstGeom prst="rect">
            <a:avLst/>
          </a:prstGeom>
          <a:solidFill>
            <a:srgbClr val="C98A4B"/>
          </a:solidFill>
          <a:ln/>
        </p:spPr>
      </p:sp>
      <p:sp>
        <p:nvSpPr>
          <p:cNvPr id="109" name="cake-7-11"/>
          <p:cNvSpPr/>
          <p:nvPr/>
        </p:nvSpPr>
        <p:spPr>
          <a:xfrm>
            <a:off x="10362941" y="3428964"/>
            <a:ext cx="206853" cy="206853"/>
          </a:xfrm>
          <a:prstGeom prst="rect">
            <a:avLst/>
          </a:prstGeom>
          <a:solidFill>
            <a:srgbClr val="C98A4B"/>
          </a:solidFill>
          <a:ln/>
        </p:spPr>
      </p:sp>
      <p:sp>
        <p:nvSpPr>
          <p:cNvPr id="110" name="cake-7-12"/>
          <p:cNvSpPr/>
          <p:nvPr/>
        </p:nvSpPr>
        <p:spPr>
          <a:xfrm>
            <a:off x="10566136" y="3428964"/>
            <a:ext cx="206853" cy="206853"/>
          </a:xfrm>
          <a:prstGeom prst="rect">
            <a:avLst/>
          </a:prstGeom>
          <a:solidFill>
            <a:srgbClr val="C98A4B"/>
          </a:solidFill>
          <a:ln/>
        </p:spPr>
      </p:sp>
      <p:sp>
        <p:nvSpPr>
          <p:cNvPr id="111" name="cake-7-13"/>
          <p:cNvSpPr/>
          <p:nvPr/>
        </p:nvSpPr>
        <p:spPr>
          <a:xfrm>
            <a:off x="10769331" y="3428964"/>
            <a:ext cx="206853" cy="206853"/>
          </a:xfrm>
          <a:prstGeom prst="rect">
            <a:avLst/>
          </a:prstGeom>
          <a:solidFill>
            <a:srgbClr val="C98A4B"/>
          </a:solidFill>
          <a:ln/>
        </p:spPr>
      </p:sp>
      <p:sp>
        <p:nvSpPr>
          <p:cNvPr id="112" name="cake-7-14"/>
          <p:cNvSpPr/>
          <p:nvPr/>
        </p:nvSpPr>
        <p:spPr>
          <a:xfrm>
            <a:off x="10972526" y="3428964"/>
            <a:ext cx="206853" cy="206853"/>
          </a:xfrm>
          <a:prstGeom prst="rect">
            <a:avLst/>
          </a:prstGeom>
          <a:solidFill>
            <a:srgbClr val="B0733A"/>
          </a:solidFill>
          <a:ln/>
        </p:spPr>
      </p:sp>
      <p:sp>
        <p:nvSpPr>
          <p:cNvPr id="113" name="cake-7-15"/>
          <p:cNvSpPr/>
          <p:nvPr/>
        </p:nvSpPr>
        <p:spPr>
          <a:xfrm>
            <a:off x="11175721" y="3428964"/>
            <a:ext cx="206853" cy="206853"/>
          </a:xfrm>
          <a:prstGeom prst="rect">
            <a:avLst/>
          </a:prstGeom>
          <a:solidFill>
            <a:srgbClr val="C98A4B"/>
          </a:solidFill>
          <a:ln/>
        </p:spPr>
      </p:sp>
      <p:sp>
        <p:nvSpPr>
          <p:cNvPr id="114" name="cake-8-0"/>
          <p:cNvSpPr/>
          <p:nvPr/>
        </p:nvSpPr>
        <p:spPr>
          <a:xfrm>
            <a:off x="8127797" y="3632159"/>
            <a:ext cx="206853" cy="206853"/>
          </a:xfrm>
          <a:prstGeom prst="rect">
            <a:avLst/>
          </a:prstGeom>
          <a:solidFill>
            <a:srgbClr val="C98A4B"/>
          </a:solidFill>
          <a:ln/>
        </p:spPr>
      </p:sp>
      <p:sp>
        <p:nvSpPr>
          <p:cNvPr id="115" name="cake-8-1"/>
          <p:cNvSpPr/>
          <p:nvPr/>
        </p:nvSpPr>
        <p:spPr>
          <a:xfrm>
            <a:off x="8330992" y="3632159"/>
            <a:ext cx="206853" cy="206853"/>
          </a:xfrm>
          <a:prstGeom prst="rect">
            <a:avLst/>
          </a:prstGeom>
          <a:solidFill>
            <a:srgbClr val="C98A4B"/>
          </a:solidFill>
          <a:ln/>
        </p:spPr>
      </p:sp>
      <p:sp>
        <p:nvSpPr>
          <p:cNvPr id="116" name="cake-8-2"/>
          <p:cNvSpPr/>
          <p:nvPr/>
        </p:nvSpPr>
        <p:spPr>
          <a:xfrm>
            <a:off x="8534187" y="3632159"/>
            <a:ext cx="206853" cy="206853"/>
          </a:xfrm>
          <a:prstGeom prst="rect">
            <a:avLst/>
          </a:prstGeom>
          <a:solidFill>
            <a:srgbClr val="B0733A"/>
          </a:solidFill>
          <a:ln/>
        </p:spPr>
      </p:sp>
      <p:sp>
        <p:nvSpPr>
          <p:cNvPr id="117" name="cake-8-3"/>
          <p:cNvSpPr/>
          <p:nvPr/>
        </p:nvSpPr>
        <p:spPr>
          <a:xfrm>
            <a:off x="8737382" y="3632159"/>
            <a:ext cx="206853" cy="206853"/>
          </a:xfrm>
          <a:prstGeom prst="rect">
            <a:avLst/>
          </a:prstGeom>
          <a:solidFill>
            <a:srgbClr val="C98A4B"/>
          </a:solidFill>
          <a:ln/>
        </p:spPr>
      </p:sp>
      <p:sp>
        <p:nvSpPr>
          <p:cNvPr id="118" name="cake-8-4"/>
          <p:cNvSpPr/>
          <p:nvPr/>
        </p:nvSpPr>
        <p:spPr>
          <a:xfrm>
            <a:off x="8940576" y="3632159"/>
            <a:ext cx="206853" cy="206853"/>
          </a:xfrm>
          <a:prstGeom prst="rect">
            <a:avLst/>
          </a:prstGeom>
          <a:solidFill>
            <a:srgbClr val="C98A4B"/>
          </a:solidFill>
          <a:ln/>
        </p:spPr>
      </p:sp>
      <p:sp>
        <p:nvSpPr>
          <p:cNvPr id="119" name="cake-8-5"/>
          <p:cNvSpPr/>
          <p:nvPr/>
        </p:nvSpPr>
        <p:spPr>
          <a:xfrm>
            <a:off x="9143771" y="3632159"/>
            <a:ext cx="206853" cy="206853"/>
          </a:xfrm>
          <a:prstGeom prst="rect">
            <a:avLst/>
          </a:prstGeom>
          <a:solidFill>
            <a:srgbClr val="C98A4B"/>
          </a:solidFill>
          <a:ln/>
        </p:spPr>
      </p:sp>
      <p:sp>
        <p:nvSpPr>
          <p:cNvPr id="120" name="cake-8-6"/>
          <p:cNvSpPr/>
          <p:nvPr/>
        </p:nvSpPr>
        <p:spPr>
          <a:xfrm>
            <a:off x="9346966" y="3632159"/>
            <a:ext cx="206853" cy="206853"/>
          </a:xfrm>
          <a:prstGeom prst="rect">
            <a:avLst/>
          </a:prstGeom>
          <a:solidFill>
            <a:srgbClr val="C98A4B"/>
          </a:solidFill>
          <a:ln/>
        </p:spPr>
      </p:sp>
      <p:sp>
        <p:nvSpPr>
          <p:cNvPr id="121" name="cake-8-7"/>
          <p:cNvSpPr/>
          <p:nvPr/>
        </p:nvSpPr>
        <p:spPr>
          <a:xfrm>
            <a:off x="9550161" y="3632159"/>
            <a:ext cx="206853" cy="206853"/>
          </a:xfrm>
          <a:prstGeom prst="rect">
            <a:avLst/>
          </a:prstGeom>
          <a:solidFill>
            <a:srgbClr val="C98A4B"/>
          </a:solidFill>
          <a:ln/>
        </p:spPr>
      </p:sp>
      <p:sp>
        <p:nvSpPr>
          <p:cNvPr id="122" name="cake-8-8"/>
          <p:cNvSpPr/>
          <p:nvPr/>
        </p:nvSpPr>
        <p:spPr>
          <a:xfrm>
            <a:off x="9753356" y="3632159"/>
            <a:ext cx="206853" cy="206853"/>
          </a:xfrm>
          <a:prstGeom prst="rect">
            <a:avLst/>
          </a:prstGeom>
          <a:solidFill>
            <a:srgbClr val="C98A4B"/>
          </a:solidFill>
          <a:ln/>
        </p:spPr>
      </p:sp>
      <p:sp>
        <p:nvSpPr>
          <p:cNvPr id="123" name="cake-8-9"/>
          <p:cNvSpPr/>
          <p:nvPr/>
        </p:nvSpPr>
        <p:spPr>
          <a:xfrm>
            <a:off x="9956551" y="3632159"/>
            <a:ext cx="206853" cy="206853"/>
          </a:xfrm>
          <a:prstGeom prst="rect">
            <a:avLst/>
          </a:prstGeom>
          <a:solidFill>
            <a:srgbClr val="C98A4B"/>
          </a:solidFill>
          <a:ln/>
        </p:spPr>
      </p:sp>
      <p:sp>
        <p:nvSpPr>
          <p:cNvPr id="124" name="cake-8-10"/>
          <p:cNvSpPr/>
          <p:nvPr/>
        </p:nvSpPr>
        <p:spPr>
          <a:xfrm>
            <a:off x="10159746" y="3632159"/>
            <a:ext cx="206853" cy="206853"/>
          </a:xfrm>
          <a:prstGeom prst="rect">
            <a:avLst/>
          </a:prstGeom>
          <a:solidFill>
            <a:srgbClr val="B0733A"/>
          </a:solidFill>
          <a:ln/>
        </p:spPr>
      </p:sp>
      <p:sp>
        <p:nvSpPr>
          <p:cNvPr id="125" name="cake-8-11"/>
          <p:cNvSpPr/>
          <p:nvPr/>
        </p:nvSpPr>
        <p:spPr>
          <a:xfrm>
            <a:off x="10362941" y="3632159"/>
            <a:ext cx="206853" cy="206853"/>
          </a:xfrm>
          <a:prstGeom prst="rect">
            <a:avLst/>
          </a:prstGeom>
          <a:solidFill>
            <a:srgbClr val="C98A4B"/>
          </a:solidFill>
          <a:ln/>
        </p:spPr>
      </p:sp>
      <p:sp>
        <p:nvSpPr>
          <p:cNvPr id="126" name="cake-8-12"/>
          <p:cNvSpPr/>
          <p:nvPr/>
        </p:nvSpPr>
        <p:spPr>
          <a:xfrm>
            <a:off x="10566136" y="3632159"/>
            <a:ext cx="206853" cy="206853"/>
          </a:xfrm>
          <a:prstGeom prst="rect">
            <a:avLst/>
          </a:prstGeom>
          <a:solidFill>
            <a:srgbClr val="C98A4B"/>
          </a:solidFill>
          <a:ln/>
        </p:spPr>
      </p:sp>
      <p:sp>
        <p:nvSpPr>
          <p:cNvPr id="127" name="cake-8-13"/>
          <p:cNvSpPr/>
          <p:nvPr/>
        </p:nvSpPr>
        <p:spPr>
          <a:xfrm>
            <a:off x="10769331" y="3632159"/>
            <a:ext cx="206853" cy="206853"/>
          </a:xfrm>
          <a:prstGeom prst="rect">
            <a:avLst/>
          </a:prstGeom>
          <a:solidFill>
            <a:srgbClr val="C98A4B"/>
          </a:solidFill>
          <a:ln/>
        </p:spPr>
      </p:sp>
      <p:sp>
        <p:nvSpPr>
          <p:cNvPr id="128" name="cake-8-14"/>
          <p:cNvSpPr/>
          <p:nvPr/>
        </p:nvSpPr>
        <p:spPr>
          <a:xfrm>
            <a:off x="10972526" y="3632159"/>
            <a:ext cx="206853" cy="206853"/>
          </a:xfrm>
          <a:prstGeom prst="rect">
            <a:avLst/>
          </a:prstGeom>
          <a:solidFill>
            <a:srgbClr val="C98A4B"/>
          </a:solidFill>
          <a:ln/>
        </p:spPr>
      </p:sp>
      <p:sp>
        <p:nvSpPr>
          <p:cNvPr id="129" name="cake-8-15"/>
          <p:cNvSpPr/>
          <p:nvPr/>
        </p:nvSpPr>
        <p:spPr>
          <a:xfrm>
            <a:off x="11175721" y="3632159"/>
            <a:ext cx="206853" cy="206853"/>
          </a:xfrm>
          <a:prstGeom prst="rect">
            <a:avLst/>
          </a:prstGeom>
          <a:solidFill>
            <a:srgbClr val="C98A4B"/>
          </a:solidFill>
          <a:ln/>
        </p:spPr>
      </p:sp>
      <p:sp>
        <p:nvSpPr>
          <p:cNvPr id="130" name="cake-9-0"/>
          <p:cNvSpPr/>
          <p:nvPr/>
        </p:nvSpPr>
        <p:spPr>
          <a:xfrm>
            <a:off x="8127797" y="3835354"/>
            <a:ext cx="206853" cy="206853"/>
          </a:xfrm>
          <a:prstGeom prst="rect">
            <a:avLst/>
          </a:prstGeom>
          <a:solidFill>
            <a:srgbClr val="C8322B"/>
          </a:solidFill>
          <a:ln/>
        </p:spPr>
      </p:sp>
      <p:sp>
        <p:nvSpPr>
          <p:cNvPr id="131" name="cake-9-1"/>
          <p:cNvSpPr/>
          <p:nvPr/>
        </p:nvSpPr>
        <p:spPr>
          <a:xfrm>
            <a:off x="8330992" y="3835354"/>
            <a:ext cx="206853" cy="206853"/>
          </a:xfrm>
          <a:prstGeom prst="rect">
            <a:avLst/>
          </a:prstGeom>
          <a:solidFill>
            <a:srgbClr val="C8322B"/>
          </a:solidFill>
          <a:ln/>
        </p:spPr>
      </p:sp>
      <p:sp>
        <p:nvSpPr>
          <p:cNvPr id="132" name="cake-9-2"/>
          <p:cNvSpPr/>
          <p:nvPr/>
        </p:nvSpPr>
        <p:spPr>
          <a:xfrm>
            <a:off x="8534187" y="3835354"/>
            <a:ext cx="206853" cy="206853"/>
          </a:xfrm>
          <a:prstGeom prst="rect">
            <a:avLst/>
          </a:prstGeom>
          <a:solidFill>
            <a:srgbClr val="C8322B"/>
          </a:solidFill>
          <a:ln/>
        </p:spPr>
      </p:sp>
      <p:sp>
        <p:nvSpPr>
          <p:cNvPr id="133" name="cake-9-3"/>
          <p:cNvSpPr/>
          <p:nvPr/>
        </p:nvSpPr>
        <p:spPr>
          <a:xfrm>
            <a:off x="8737382" y="3835354"/>
            <a:ext cx="206853" cy="206853"/>
          </a:xfrm>
          <a:prstGeom prst="rect">
            <a:avLst/>
          </a:prstGeom>
          <a:solidFill>
            <a:srgbClr val="C8322B"/>
          </a:solidFill>
          <a:ln/>
        </p:spPr>
      </p:sp>
      <p:sp>
        <p:nvSpPr>
          <p:cNvPr id="134" name="cake-9-4"/>
          <p:cNvSpPr/>
          <p:nvPr/>
        </p:nvSpPr>
        <p:spPr>
          <a:xfrm>
            <a:off x="8940576" y="3835354"/>
            <a:ext cx="206853" cy="206853"/>
          </a:xfrm>
          <a:prstGeom prst="rect">
            <a:avLst/>
          </a:prstGeom>
          <a:solidFill>
            <a:srgbClr val="9E1F1A"/>
          </a:solidFill>
          <a:ln/>
        </p:spPr>
      </p:sp>
      <p:sp>
        <p:nvSpPr>
          <p:cNvPr id="135" name="cake-9-5"/>
          <p:cNvSpPr/>
          <p:nvPr/>
        </p:nvSpPr>
        <p:spPr>
          <a:xfrm>
            <a:off x="9143771" y="3835354"/>
            <a:ext cx="206853" cy="206853"/>
          </a:xfrm>
          <a:prstGeom prst="rect">
            <a:avLst/>
          </a:prstGeom>
          <a:solidFill>
            <a:srgbClr val="C8322B"/>
          </a:solidFill>
          <a:ln/>
        </p:spPr>
      </p:sp>
      <p:sp>
        <p:nvSpPr>
          <p:cNvPr id="136" name="cake-9-6"/>
          <p:cNvSpPr/>
          <p:nvPr/>
        </p:nvSpPr>
        <p:spPr>
          <a:xfrm>
            <a:off x="9346966" y="3835354"/>
            <a:ext cx="206853" cy="206853"/>
          </a:xfrm>
          <a:prstGeom prst="rect">
            <a:avLst/>
          </a:prstGeom>
          <a:solidFill>
            <a:srgbClr val="C8322B"/>
          </a:solidFill>
          <a:ln/>
        </p:spPr>
      </p:sp>
      <p:sp>
        <p:nvSpPr>
          <p:cNvPr id="137" name="cake-9-7"/>
          <p:cNvSpPr/>
          <p:nvPr/>
        </p:nvSpPr>
        <p:spPr>
          <a:xfrm>
            <a:off x="9550161" y="3835354"/>
            <a:ext cx="206853" cy="206853"/>
          </a:xfrm>
          <a:prstGeom prst="rect">
            <a:avLst/>
          </a:prstGeom>
          <a:solidFill>
            <a:srgbClr val="C8322B"/>
          </a:solidFill>
          <a:ln/>
        </p:spPr>
      </p:sp>
      <p:sp>
        <p:nvSpPr>
          <p:cNvPr id="138" name="cake-9-8"/>
          <p:cNvSpPr/>
          <p:nvPr/>
        </p:nvSpPr>
        <p:spPr>
          <a:xfrm>
            <a:off x="9753356" y="3835354"/>
            <a:ext cx="206853" cy="206853"/>
          </a:xfrm>
          <a:prstGeom prst="rect">
            <a:avLst/>
          </a:prstGeom>
          <a:solidFill>
            <a:srgbClr val="C8322B"/>
          </a:solidFill>
          <a:ln/>
        </p:spPr>
      </p:sp>
      <p:sp>
        <p:nvSpPr>
          <p:cNvPr id="139" name="cake-9-9"/>
          <p:cNvSpPr/>
          <p:nvPr/>
        </p:nvSpPr>
        <p:spPr>
          <a:xfrm>
            <a:off x="9956551" y="3835354"/>
            <a:ext cx="206853" cy="206853"/>
          </a:xfrm>
          <a:prstGeom prst="rect">
            <a:avLst/>
          </a:prstGeom>
          <a:solidFill>
            <a:srgbClr val="C8322B"/>
          </a:solidFill>
          <a:ln/>
        </p:spPr>
      </p:sp>
      <p:sp>
        <p:nvSpPr>
          <p:cNvPr id="140" name="cake-9-10"/>
          <p:cNvSpPr/>
          <p:nvPr/>
        </p:nvSpPr>
        <p:spPr>
          <a:xfrm>
            <a:off x="10159746" y="3835354"/>
            <a:ext cx="206853" cy="206853"/>
          </a:xfrm>
          <a:prstGeom prst="rect">
            <a:avLst/>
          </a:prstGeom>
          <a:solidFill>
            <a:srgbClr val="C8322B"/>
          </a:solidFill>
          <a:ln/>
        </p:spPr>
      </p:sp>
      <p:sp>
        <p:nvSpPr>
          <p:cNvPr id="141" name="cake-9-11"/>
          <p:cNvSpPr/>
          <p:nvPr/>
        </p:nvSpPr>
        <p:spPr>
          <a:xfrm>
            <a:off x="10362941" y="3835354"/>
            <a:ext cx="206853" cy="206853"/>
          </a:xfrm>
          <a:prstGeom prst="rect">
            <a:avLst/>
          </a:prstGeom>
          <a:solidFill>
            <a:srgbClr val="9E1F1A"/>
          </a:solidFill>
          <a:ln/>
        </p:spPr>
      </p:sp>
      <p:sp>
        <p:nvSpPr>
          <p:cNvPr id="142" name="cake-9-12"/>
          <p:cNvSpPr/>
          <p:nvPr/>
        </p:nvSpPr>
        <p:spPr>
          <a:xfrm>
            <a:off x="10566136" y="3835354"/>
            <a:ext cx="206853" cy="206853"/>
          </a:xfrm>
          <a:prstGeom prst="rect">
            <a:avLst/>
          </a:prstGeom>
          <a:solidFill>
            <a:srgbClr val="C8322B"/>
          </a:solidFill>
          <a:ln/>
        </p:spPr>
      </p:sp>
      <p:sp>
        <p:nvSpPr>
          <p:cNvPr id="143" name="cake-9-13"/>
          <p:cNvSpPr/>
          <p:nvPr/>
        </p:nvSpPr>
        <p:spPr>
          <a:xfrm>
            <a:off x="10769331" y="3835354"/>
            <a:ext cx="206853" cy="206853"/>
          </a:xfrm>
          <a:prstGeom prst="rect">
            <a:avLst/>
          </a:prstGeom>
          <a:solidFill>
            <a:srgbClr val="C8322B"/>
          </a:solidFill>
          <a:ln/>
        </p:spPr>
      </p:sp>
      <p:sp>
        <p:nvSpPr>
          <p:cNvPr id="144" name="cake-9-14"/>
          <p:cNvSpPr/>
          <p:nvPr/>
        </p:nvSpPr>
        <p:spPr>
          <a:xfrm>
            <a:off x="10972526" y="3835354"/>
            <a:ext cx="206853" cy="206853"/>
          </a:xfrm>
          <a:prstGeom prst="rect">
            <a:avLst/>
          </a:prstGeom>
          <a:solidFill>
            <a:srgbClr val="C8322B"/>
          </a:solidFill>
          <a:ln/>
        </p:spPr>
      </p:sp>
      <p:sp>
        <p:nvSpPr>
          <p:cNvPr id="145" name="cake-9-15"/>
          <p:cNvSpPr/>
          <p:nvPr/>
        </p:nvSpPr>
        <p:spPr>
          <a:xfrm>
            <a:off x="11175721" y="3835354"/>
            <a:ext cx="206853" cy="206853"/>
          </a:xfrm>
          <a:prstGeom prst="rect">
            <a:avLst/>
          </a:prstGeom>
          <a:solidFill>
            <a:srgbClr val="C8322B"/>
          </a:solidFill>
          <a:ln/>
        </p:spPr>
      </p:sp>
      <p:sp>
        <p:nvSpPr>
          <p:cNvPr id="146" name="cake-10-0"/>
          <p:cNvSpPr/>
          <p:nvPr/>
        </p:nvSpPr>
        <p:spPr>
          <a:xfrm>
            <a:off x="8127797" y="4038549"/>
            <a:ext cx="206853" cy="206853"/>
          </a:xfrm>
          <a:prstGeom prst="rect">
            <a:avLst/>
          </a:prstGeom>
          <a:solidFill>
            <a:srgbClr val="C98A4B"/>
          </a:solidFill>
          <a:ln/>
        </p:spPr>
      </p:sp>
      <p:sp>
        <p:nvSpPr>
          <p:cNvPr id="147" name="cake-10-1"/>
          <p:cNvSpPr/>
          <p:nvPr/>
        </p:nvSpPr>
        <p:spPr>
          <a:xfrm>
            <a:off x="8330992" y="4038549"/>
            <a:ext cx="206853" cy="206853"/>
          </a:xfrm>
          <a:prstGeom prst="rect">
            <a:avLst/>
          </a:prstGeom>
          <a:solidFill>
            <a:srgbClr val="C98A4B"/>
          </a:solidFill>
          <a:ln/>
        </p:spPr>
      </p:sp>
      <p:sp>
        <p:nvSpPr>
          <p:cNvPr id="148" name="cake-10-2"/>
          <p:cNvSpPr/>
          <p:nvPr/>
        </p:nvSpPr>
        <p:spPr>
          <a:xfrm>
            <a:off x="8534187" y="4038549"/>
            <a:ext cx="206853" cy="206853"/>
          </a:xfrm>
          <a:prstGeom prst="rect">
            <a:avLst/>
          </a:prstGeom>
          <a:solidFill>
            <a:srgbClr val="C98A4B"/>
          </a:solidFill>
          <a:ln/>
        </p:spPr>
      </p:sp>
      <p:sp>
        <p:nvSpPr>
          <p:cNvPr id="149" name="cake-10-3"/>
          <p:cNvSpPr/>
          <p:nvPr/>
        </p:nvSpPr>
        <p:spPr>
          <a:xfrm>
            <a:off x="8737382" y="4038549"/>
            <a:ext cx="206853" cy="206853"/>
          </a:xfrm>
          <a:prstGeom prst="rect">
            <a:avLst/>
          </a:prstGeom>
          <a:solidFill>
            <a:srgbClr val="C98A4B"/>
          </a:solidFill>
          <a:ln/>
        </p:spPr>
      </p:sp>
      <p:sp>
        <p:nvSpPr>
          <p:cNvPr id="150" name="cake-10-4"/>
          <p:cNvSpPr/>
          <p:nvPr/>
        </p:nvSpPr>
        <p:spPr>
          <a:xfrm>
            <a:off x="8940576" y="4038549"/>
            <a:ext cx="206853" cy="206853"/>
          </a:xfrm>
          <a:prstGeom prst="rect">
            <a:avLst/>
          </a:prstGeom>
          <a:solidFill>
            <a:srgbClr val="C98A4B"/>
          </a:solidFill>
          <a:ln/>
        </p:spPr>
      </p:sp>
      <p:sp>
        <p:nvSpPr>
          <p:cNvPr id="151" name="cake-10-5"/>
          <p:cNvSpPr/>
          <p:nvPr/>
        </p:nvSpPr>
        <p:spPr>
          <a:xfrm>
            <a:off x="9143771" y="4038549"/>
            <a:ext cx="206853" cy="206853"/>
          </a:xfrm>
          <a:prstGeom prst="rect">
            <a:avLst/>
          </a:prstGeom>
          <a:solidFill>
            <a:srgbClr val="B0733A"/>
          </a:solidFill>
          <a:ln/>
        </p:spPr>
      </p:sp>
      <p:sp>
        <p:nvSpPr>
          <p:cNvPr id="152" name="cake-10-6"/>
          <p:cNvSpPr/>
          <p:nvPr/>
        </p:nvSpPr>
        <p:spPr>
          <a:xfrm>
            <a:off x="9346966" y="4038549"/>
            <a:ext cx="206853" cy="206853"/>
          </a:xfrm>
          <a:prstGeom prst="rect">
            <a:avLst/>
          </a:prstGeom>
          <a:solidFill>
            <a:srgbClr val="C98A4B"/>
          </a:solidFill>
          <a:ln/>
        </p:spPr>
      </p:sp>
      <p:sp>
        <p:nvSpPr>
          <p:cNvPr id="153" name="cake-10-7"/>
          <p:cNvSpPr/>
          <p:nvPr/>
        </p:nvSpPr>
        <p:spPr>
          <a:xfrm>
            <a:off x="9550161" y="4038549"/>
            <a:ext cx="206853" cy="206853"/>
          </a:xfrm>
          <a:prstGeom prst="rect">
            <a:avLst/>
          </a:prstGeom>
          <a:solidFill>
            <a:srgbClr val="C98A4B"/>
          </a:solidFill>
          <a:ln/>
        </p:spPr>
      </p:sp>
      <p:sp>
        <p:nvSpPr>
          <p:cNvPr id="154" name="cake-10-8"/>
          <p:cNvSpPr/>
          <p:nvPr/>
        </p:nvSpPr>
        <p:spPr>
          <a:xfrm>
            <a:off x="9753356" y="4038549"/>
            <a:ext cx="206853" cy="206853"/>
          </a:xfrm>
          <a:prstGeom prst="rect">
            <a:avLst/>
          </a:prstGeom>
          <a:solidFill>
            <a:srgbClr val="C98A4B"/>
          </a:solidFill>
          <a:ln/>
        </p:spPr>
      </p:sp>
      <p:sp>
        <p:nvSpPr>
          <p:cNvPr id="155" name="cake-10-9"/>
          <p:cNvSpPr/>
          <p:nvPr/>
        </p:nvSpPr>
        <p:spPr>
          <a:xfrm>
            <a:off x="9956551" y="4038549"/>
            <a:ext cx="206853" cy="206853"/>
          </a:xfrm>
          <a:prstGeom prst="rect">
            <a:avLst/>
          </a:prstGeom>
          <a:solidFill>
            <a:srgbClr val="C98A4B"/>
          </a:solidFill>
          <a:ln/>
        </p:spPr>
      </p:sp>
      <p:sp>
        <p:nvSpPr>
          <p:cNvPr id="156" name="cake-10-10"/>
          <p:cNvSpPr/>
          <p:nvPr/>
        </p:nvSpPr>
        <p:spPr>
          <a:xfrm>
            <a:off x="10159746" y="4038549"/>
            <a:ext cx="206853" cy="206853"/>
          </a:xfrm>
          <a:prstGeom prst="rect">
            <a:avLst/>
          </a:prstGeom>
          <a:solidFill>
            <a:srgbClr val="C98A4B"/>
          </a:solidFill>
          <a:ln/>
        </p:spPr>
      </p:sp>
      <p:sp>
        <p:nvSpPr>
          <p:cNvPr id="157" name="cake-10-11"/>
          <p:cNvSpPr/>
          <p:nvPr/>
        </p:nvSpPr>
        <p:spPr>
          <a:xfrm>
            <a:off x="10362941" y="4038549"/>
            <a:ext cx="206853" cy="206853"/>
          </a:xfrm>
          <a:prstGeom prst="rect">
            <a:avLst/>
          </a:prstGeom>
          <a:solidFill>
            <a:srgbClr val="C98A4B"/>
          </a:solidFill>
          <a:ln/>
        </p:spPr>
      </p:sp>
      <p:sp>
        <p:nvSpPr>
          <p:cNvPr id="158" name="cake-10-12"/>
          <p:cNvSpPr/>
          <p:nvPr/>
        </p:nvSpPr>
        <p:spPr>
          <a:xfrm>
            <a:off x="10566136" y="4038549"/>
            <a:ext cx="206853" cy="206853"/>
          </a:xfrm>
          <a:prstGeom prst="rect">
            <a:avLst/>
          </a:prstGeom>
          <a:solidFill>
            <a:srgbClr val="C98A4B"/>
          </a:solidFill>
          <a:ln/>
        </p:spPr>
      </p:sp>
      <p:sp>
        <p:nvSpPr>
          <p:cNvPr id="159" name="cake-10-13"/>
          <p:cNvSpPr/>
          <p:nvPr/>
        </p:nvSpPr>
        <p:spPr>
          <a:xfrm>
            <a:off x="10769331" y="4038549"/>
            <a:ext cx="206853" cy="206853"/>
          </a:xfrm>
          <a:prstGeom prst="rect">
            <a:avLst/>
          </a:prstGeom>
          <a:solidFill>
            <a:srgbClr val="B0733A"/>
          </a:solidFill>
          <a:ln/>
        </p:spPr>
      </p:sp>
      <p:sp>
        <p:nvSpPr>
          <p:cNvPr id="160" name="cake-10-14"/>
          <p:cNvSpPr/>
          <p:nvPr/>
        </p:nvSpPr>
        <p:spPr>
          <a:xfrm>
            <a:off x="10972526" y="4038549"/>
            <a:ext cx="206853" cy="206853"/>
          </a:xfrm>
          <a:prstGeom prst="rect">
            <a:avLst/>
          </a:prstGeom>
          <a:solidFill>
            <a:srgbClr val="C98A4B"/>
          </a:solidFill>
          <a:ln/>
        </p:spPr>
      </p:sp>
      <p:sp>
        <p:nvSpPr>
          <p:cNvPr id="161" name="cake-10-15"/>
          <p:cNvSpPr/>
          <p:nvPr/>
        </p:nvSpPr>
        <p:spPr>
          <a:xfrm>
            <a:off x="11175721" y="4038549"/>
            <a:ext cx="206853" cy="206853"/>
          </a:xfrm>
          <a:prstGeom prst="rect">
            <a:avLst/>
          </a:prstGeom>
          <a:solidFill>
            <a:srgbClr val="C98A4B"/>
          </a:solidFill>
          <a:ln/>
        </p:spPr>
      </p:sp>
      <p:sp>
        <p:nvSpPr>
          <p:cNvPr id="162" name="cake-11-0"/>
          <p:cNvSpPr/>
          <p:nvPr/>
        </p:nvSpPr>
        <p:spPr>
          <a:xfrm>
            <a:off x="8127797" y="4241744"/>
            <a:ext cx="206853" cy="206853"/>
          </a:xfrm>
          <a:prstGeom prst="rect">
            <a:avLst/>
          </a:prstGeom>
          <a:solidFill>
            <a:srgbClr val="C98A4B"/>
          </a:solidFill>
          <a:ln/>
        </p:spPr>
      </p:sp>
      <p:sp>
        <p:nvSpPr>
          <p:cNvPr id="163" name="cake-11-1"/>
          <p:cNvSpPr/>
          <p:nvPr/>
        </p:nvSpPr>
        <p:spPr>
          <a:xfrm>
            <a:off x="8330992" y="4241744"/>
            <a:ext cx="206853" cy="206853"/>
          </a:xfrm>
          <a:prstGeom prst="rect">
            <a:avLst/>
          </a:prstGeom>
          <a:solidFill>
            <a:srgbClr val="B0733A"/>
          </a:solidFill>
          <a:ln/>
        </p:spPr>
      </p:sp>
      <p:sp>
        <p:nvSpPr>
          <p:cNvPr id="164" name="cake-11-2"/>
          <p:cNvSpPr/>
          <p:nvPr/>
        </p:nvSpPr>
        <p:spPr>
          <a:xfrm>
            <a:off x="8534187" y="4241744"/>
            <a:ext cx="206853" cy="206853"/>
          </a:xfrm>
          <a:prstGeom prst="rect">
            <a:avLst/>
          </a:prstGeom>
          <a:solidFill>
            <a:srgbClr val="C98A4B"/>
          </a:solidFill>
          <a:ln/>
        </p:spPr>
      </p:sp>
      <p:sp>
        <p:nvSpPr>
          <p:cNvPr id="165" name="cake-11-3"/>
          <p:cNvSpPr/>
          <p:nvPr/>
        </p:nvSpPr>
        <p:spPr>
          <a:xfrm>
            <a:off x="8737382" y="4241744"/>
            <a:ext cx="206853" cy="206853"/>
          </a:xfrm>
          <a:prstGeom prst="rect">
            <a:avLst/>
          </a:prstGeom>
          <a:solidFill>
            <a:srgbClr val="C98A4B"/>
          </a:solidFill>
          <a:ln/>
        </p:spPr>
      </p:sp>
      <p:sp>
        <p:nvSpPr>
          <p:cNvPr id="166" name="cake-11-4"/>
          <p:cNvSpPr/>
          <p:nvPr/>
        </p:nvSpPr>
        <p:spPr>
          <a:xfrm>
            <a:off x="8940576" y="4241744"/>
            <a:ext cx="206853" cy="206853"/>
          </a:xfrm>
          <a:prstGeom prst="rect">
            <a:avLst/>
          </a:prstGeom>
          <a:solidFill>
            <a:srgbClr val="C98A4B"/>
          </a:solidFill>
          <a:ln/>
        </p:spPr>
      </p:sp>
      <p:sp>
        <p:nvSpPr>
          <p:cNvPr id="167" name="cake-11-5"/>
          <p:cNvSpPr/>
          <p:nvPr/>
        </p:nvSpPr>
        <p:spPr>
          <a:xfrm>
            <a:off x="9143771" y="4241744"/>
            <a:ext cx="206853" cy="206853"/>
          </a:xfrm>
          <a:prstGeom prst="rect">
            <a:avLst/>
          </a:prstGeom>
          <a:solidFill>
            <a:srgbClr val="C98A4B"/>
          </a:solidFill>
          <a:ln/>
        </p:spPr>
      </p:sp>
      <p:sp>
        <p:nvSpPr>
          <p:cNvPr id="168" name="cake-11-6"/>
          <p:cNvSpPr/>
          <p:nvPr/>
        </p:nvSpPr>
        <p:spPr>
          <a:xfrm>
            <a:off x="9346966" y="4241744"/>
            <a:ext cx="206853" cy="206853"/>
          </a:xfrm>
          <a:prstGeom prst="rect">
            <a:avLst/>
          </a:prstGeom>
          <a:solidFill>
            <a:srgbClr val="C98A4B"/>
          </a:solidFill>
          <a:ln/>
        </p:spPr>
      </p:sp>
      <p:sp>
        <p:nvSpPr>
          <p:cNvPr id="169" name="cake-11-7"/>
          <p:cNvSpPr/>
          <p:nvPr/>
        </p:nvSpPr>
        <p:spPr>
          <a:xfrm>
            <a:off x="9550161" y="4241744"/>
            <a:ext cx="206853" cy="206853"/>
          </a:xfrm>
          <a:prstGeom prst="rect">
            <a:avLst/>
          </a:prstGeom>
          <a:solidFill>
            <a:srgbClr val="C98A4B"/>
          </a:solidFill>
          <a:ln/>
        </p:spPr>
      </p:sp>
      <p:sp>
        <p:nvSpPr>
          <p:cNvPr id="170" name="cake-11-8"/>
          <p:cNvSpPr/>
          <p:nvPr/>
        </p:nvSpPr>
        <p:spPr>
          <a:xfrm>
            <a:off x="9753356" y="4241744"/>
            <a:ext cx="206853" cy="206853"/>
          </a:xfrm>
          <a:prstGeom prst="rect">
            <a:avLst/>
          </a:prstGeom>
          <a:solidFill>
            <a:srgbClr val="C98A4B"/>
          </a:solidFill>
          <a:ln/>
        </p:spPr>
      </p:sp>
      <p:sp>
        <p:nvSpPr>
          <p:cNvPr id="171" name="cake-11-9"/>
          <p:cNvSpPr/>
          <p:nvPr/>
        </p:nvSpPr>
        <p:spPr>
          <a:xfrm>
            <a:off x="9956551" y="4241744"/>
            <a:ext cx="206853" cy="206853"/>
          </a:xfrm>
          <a:prstGeom prst="rect">
            <a:avLst/>
          </a:prstGeom>
          <a:solidFill>
            <a:srgbClr val="B0733A"/>
          </a:solidFill>
          <a:ln/>
        </p:spPr>
      </p:sp>
      <p:sp>
        <p:nvSpPr>
          <p:cNvPr id="172" name="cake-11-10"/>
          <p:cNvSpPr/>
          <p:nvPr/>
        </p:nvSpPr>
        <p:spPr>
          <a:xfrm>
            <a:off x="10159746" y="4241744"/>
            <a:ext cx="206853" cy="206853"/>
          </a:xfrm>
          <a:prstGeom prst="rect">
            <a:avLst/>
          </a:prstGeom>
          <a:solidFill>
            <a:srgbClr val="C98A4B"/>
          </a:solidFill>
          <a:ln/>
        </p:spPr>
      </p:sp>
      <p:sp>
        <p:nvSpPr>
          <p:cNvPr id="173" name="cake-11-11"/>
          <p:cNvSpPr/>
          <p:nvPr/>
        </p:nvSpPr>
        <p:spPr>
          <a:xfrm>
            <a:off x="10362941" y="4241744"/>
            <a:ext cx="206853" cy="206853"/>
          </a:xfrm>
          <a:prstGeom prst="rect">
            <a:avLst/>
          </a:prstGeom>
          <a:solidFill>
            <a:srgbClr val="C98A4B"/>
          </a:solidFill>
          <a:ln/>
        </p:spPr>
      </p:sp>
      <p:sp>
        <p:nvSpPr>
          <p:cNvPr id="174" name="cake-11-12"/>
          <p:cNvSpPr/>
          <p:nvPr/>
        </p:nvSpPr>
        <p:spPr>
          <a:xfrm>
            <a:off x="10566136" y="4241744"/>
            <a:ext cx="206853" cy="206853"/>
          </a:xfrm>
          <a:prstGeom prst="rect">
            <a:avLst/>
          </a:prstGeom>
          <a:solidFill>
            <a:srgbClr val="C98A4B"/>
          </a:solidFill>
          <a:ln/>
        </p:spPr>
      </p:sp>
      <p:sp>
        <p:nvSpPr>
          <p:cNvPr id="175" name="cake-11-13"/>
          <p:cNvSpPr/>
          <p:nvPr/>
        </p:nvSpPr>
        <p:spPr>
          <a:xfrm>
            <a:off x="10769331" y="4241744"/>
            <a:ext cx="206853" cy="206853"/>
          </a:xfrm>
          <a:prstGeom prst="rect">
            <a:avLst/>
          </a:prstGeom>
          <a:solidFill>
            <a:srgbClr val="C98A4B"/>
          </a:solidFill>
          <a:ln/>
        </p:spPr>
      </p:sp>
      <p:sp>
        <p:nvSpPr>
          <p:cNvPr id="176" name="cake-11-14"/>
          <p:cNvSpPr/>
          <p:nvPr/>
        </p:nvSpPr>
        <p:spPr>
          <a:xfrm>
            <a:off x="10972526" y="4241744"/>
            <a:ext cx="206853" cy="206853"/>
          </a:xfrm>
          <a:prstGeom prst="rect">
            <a:avLst/>
          </a:prstGeom>
          <a:solidFill>
            <a:srgbClr val="C98A4B"/>
          </a:solidFill>
          <a:ln/>
        </p:spPr>
      </p:sp>
      <p:sp>
        <p:nvSpPr>
          <p:cNvPr id="177" name="cake-11-15"/>
          <p:cNvSpPr/>
          <p:nvPr/>
        </p:nvSpPr>
        <p:spPr>
          <a:xfrm>
            <a:off x="11175721" y="4241744"/>
            <a:ext cx="206853" cy="206853"/>
          </a:xfrm>
          <a:prstGeom prst="rect">
            <a:avLst/>
          </a:prstGeom>
          <a:solidFill>
            <a:srgbClr val="C98A4B"/>
          </a:solidFill>
          <a:ln/>
        </p:spPr>
      </p:sp>
      <p:sp>
        <p:nvSpPr>
          <p:cNvPr id="178" name="cake-12-0"/>
          <p:cNvSpPr/>
          <p:nvPr/>
        </p:nvSpPr>
        <p:spPr>
          <a:xfrm>
            <a:off x="8127797" y="4444939"/>
            <a:ext cx="206853" cy="206853"/>
          </a:xfrm>
          <a:prstGeom prst="rect">
            <a:avLst/>
          </a:prstGeom>
          <a:solidFill>
            <a:srgbClr val="C98A4B"/>
          </a:solidFill>
          <a:ln/>
        </p:spPr>
      </p:sp>
      <p:sp>
        <p:nvSpPr>
          <p:cNvPr id="179" name="cake-12-1"/>
          <p:cNvSpPr/>
          <p:nvPr/>
        </p:nvSpPr>
        <p:spPr>
          <a:xfrm>
            <a:off x="8330992" y="4444939"/>
            <a:ext cx="206853" cy="206853"/>
          </a:xfrm>
          <a:prstGeom prst="rect">
            <a:avLst/>
          </a:prstGeom>
          <a:solidFill>
            <a:srgbClr val="C98A4B"/>
          </a:solidFill>
          <a:ln/>
        </p:spPr>
      </p:sp>
      <p:sp>
        <p:nvSpPr>
          <p:cNvPr id="180" name="cake-12-2"/>
          <p:cNvSpPr/>
          <p:nvPr/>
        </p:nvSpPr>
        <p:spPr>
          <a:xfrm>
            <a:off x="8534187" y="4444939"/>
            <a:ext cx="206853" cy="206853"/>
          </a:xfrm>
          <a:prstGeom prst="rect">
            <a:avLst/>
          </a:prstGeom>
          <a:solidFill>
            <a:srgbClr val="C98A4B"/>
          </a:solidFill>
          <a:ln/>
        </p:spPr>
      </p:sp>
      <p:sp>
        <p:nvSpPr>
          <p:cNvPr id="181" name="cake-12-3"/>
          <p:cNvSpPr/>
          <p:nvPr/>
        </p:nvSpPr>
        <p:spPr>
          <a:xfrm>
            <a:off x="8737382" y="4444939"/>
            <a:ext cx="206853" cy="206853"/>
          </a:xfrm>
          <a:prstGeom prst="rect">
            <a:avLst/>
          </a:prstGeom>
          <a:solidFill>
            <a:srgbClr val="C98A4B"/>
          </a:solidFill>
          <a:ln/>
        </p:spPr>
      </p:sp>
      <p:sp>
        <p:nvSpPr>
          <p:cNvPr id="182" name="cake-12-4"/>
          <p:cNvSpPr/>
          <p:nvPr/>
        </p:nvSpPr>
        <p:spPr>
          <a:xfrm>
            <a:off x="8940576" y="4444939"/>
            <a:ext cx="206853" cy="206853"/>
          </a:xfrm>
          <a:prstGeom prst="rect">
            <a:avLst/>
          </a:prstGeom>
          <a:solidFill>
            <a:srgbClr val="C98A4B"/>
          </a:solidFill>
          <a:ln/>
        </p:spPr>
      </p:sp>
      <p:sp>
        <p:nvSpPr>
          <p:cNvPr id="183" name="cake-12-5"/>
          <p:cNvSpPr/>
          <p:nvPr/>
        </p:nvSpPr>
        <p:spPr>
          <a:xfrm>
            <a:off x="9143771" y="4444939"/>
            <a:ext cx="206853" cy="206853"/>
          </a:xfrm>
          <a:prstGeom prst="rect">
            <a:avLst/>
          </a:prstGeom>
          <a:solidFill>
            <a:srgbClr val="C98A4B"/>
          </a:solidFill>
          <a:ln/>
        </p:spPr>
      </p:sp>
      <p:sp>
        <p:nvSpPr>
          <p:cNvPr id="184" name="cake-12-6"/>
          <p:cNvSpPr/>
          <p:nvPr/>
        </p:nvSpPr>
        <p:spPr>
          <a:xfrm>
            <a:off x="9346966" y="4444939"/>
            <a:ext cx="206853" cy="206853"/>
          </a:xfrm>
          <a:prstGeom prst="rect">
            <a:avLst/>
          </a:prstGeom>
          <a:solidFill>
            <a:srgbClr val="B0733A"/>
          </a:solidFill>
          <a:ln/>
        </p:spPr>
      </p:sp>
      <p:sp>
        <p:nvSpPr>
          <p:cNvPr id="185" name="cake-12-7"/>
          <p:cNvSpPr/>
          <p:nvPr/>
        </p:nvSpPr>
        <p:spPr>
          <a:xfrm>
            <a:off x="9550161" y="4444939"/>
            <a:ext cx="206853" cy="206853"/>
          </a:xfrm>
          <a:prstGeom prst="rect">
            <a:avLst/>
          </a:prstGeom>
          <a:solidFill>
            <a:srgbClr val="C98A4B"/>
          </a:solidFill>
          <a:ln/>
        </p:spPr>
      </p:sp>
      <p:sp>
        <p:nvSpPr>
          <p:cNvPr id="186" name="cake-12-8"/>
          <p:cNvSpPr/>
          <p:nvPr/>
        </p:nvSpPr>
        <p:spPr>
          <a:xfrm>
            <a:off x="9753356" y="4444939"/>
            <a:ext cx="206853" cy="206853"/>
          </a:xfrm>
          <a:prstGeom prst="rect">
            <a:avLst/>
          </a:prstGeom>
          <a:solidFill>
            <a:srgbClr val="C98A4B"/>
          </a:solidFill>
          <a:ln/>
        </p:spPr>
      </p:sp>
      <p:sp>
        <p:nvSpPr>
          <p:cNvPr id="187" name="cake-12-9"/>
          <p:cNvSpPr/>
          <p:nvPr/>
        </p:nvSpPr>
        <p:spPr>
          <a:xfrm>
            <a:off x="9956551" y="4444939"/>
            <a:ext cx="206853" cy="206853"/>
          </a:xfrm>
          <a:prstGeom prst="rect">
            <a:avLst/>
          </a:prstGeom>
          <a:solidFill>
            <a:srgbClr val="C98A4B"/>
          </a:solidFill>
          <a:ln/>
        </p:spPr>
      </p:sp>
      <p:sp>
        <p:nvSpPr>
          <p:cNvPr id="188" name="cake-12-10"/>
          <p:cNvSpPr/>
          <p:nvPr/>
        </p:nvSpPr>
        <p:spPr>
          <a:xfrm>
            <a:off x="10159746" y="4444939"/>
            <a:ext cx="206853" cy="206853"/>
          </a:xfrm>
          <a:prstGeom prst="rect">
            <a:avLst/>
          </a:prstGeom>
          <a:solidFill>
            <a:srgbClr val="C98A4B"/>
          </a:solidFill>
          <a:ln/>
        </p:spPr>
      </p:sp>
      <p:sp>
        <p:nvSpPr>
          <p:cNvPr id="189" name="cake-12-11"/>
          <p:cNvSpPr/>
          <p:nvPr/>
        </p:nvSpPr>
        <p:spPr>
          <a:xfrm>
            <a:off x="10362941" y="4444939"/>
            <a:ext cx="206853" cy="206853"/>
          </a:xfrm>
          <a:prstGeom prst="rect">
            <a:avLst/>
          </a:prstGeom>
          <a:solidFill>
            <a:srgbClr val="C98A4B"/>
          </a:solidFill>
          <a:ln/>
        </p:spPr>
      </p:sp>
      <p:sp>
        <p:nvSpPr>
          <p:cNvPr id="190" name="cake-12-12"/>
          <p:cNvSpPr/>
          <p:nvPr/>
        </p:nvSpPr>
        <p:spPr>
          <a:xfrm>
            <a:off x="10566136" y="4444939"/>
            <a:ext cx="206853" cy="206853"/>
          </a:xfrm>
          <a:prstGeom prst="rect">
            <a:avLst/>
          </a:prstGeom>
          <a:solidFill>
            <a:srgbClr val="C98A4B"/>
          </a:solidFill>
          <a:ln/>
        </p:spPr>
      </p:sp>
      <p:sp>
        <p:nvSpPr>
          <p:cNvPr id="191" name="cake-12-13"/>
          <p:cNvSpPr/>
          <p:nvPr/>
        </p:nvSpPr>
        <p:spPr>
          <a:xfrm>
            <a:off x="10769331" y="4444939"/>
            <a:ext cx="206853" cy="206853"/>
          </a:xfrm>
          <a:prstGeom prst="rect">
            <a:avLst/>
          </a:prstGeom>
          <a:solidFill>
            <a:srgbClr val="C98A4B"/>
          </a:solidFill>
          <a:ln/>
        </p:spPr>
      </p:sp>
      <p:sp>
        <p:nvSpPr>
          <p:cNvPr id="192" name="cake-12-14"/>
          <p:cNvSpPr/>
          <p:nvPr/>
        </p:nvSpPr>
        <p:spPr>
          <a:xfrm>
            <a:off x="10972526" y="4444939"/>
            <a:ext cx="206853" cy="206853"/>
          </a:xfrm>
          <a:prstGeom prst="rect">
            <a:avLst/>
          </a:prstGeom>
          <a:solidFill>
            <a:srgbClr val="C98A4B"/>
          </a:solidFill>
          <a:ln/>
        </p:spPr>
      </p:sp>
      <p:sp>
        <p:nvSpPr>
          <p:cNvPr id="193" name="cake-12-15"/>
          <p:cNvSpPr/>
          <p:nvPr/>
        </p:nvSpPr>
        <p:spPr>
          <a:xfrm>
            <a:off x="11175721" y="4444939"/>
            <a:ext cx="206853" cy="206853"/>
          </a:xfrm>
          <a:prstGeom prst="rect">
            <a:avLst/>
          </a:prstGeom>
          <a:solidFill>
            <a:srgbClr val="B0733A"/>
          </a:solidFill>
          <a:ln/>
        </p:spPr>
      </p:sp>
      <p:sp>
        <p:nvSpPr>
          <p:cNvPr id="194" name="cake-13-0"/>
          <p:cNvSpPr/>
          <p:nvPr/>
        </p:nvSpPr>
        <p:spPr>
          <a:xfrm>
            <a:off x="8127797" y="4648134"/>
            <a:ext cx="206853" cy="206853"/>
          </a:xfrm>
          <a:prstGeom prst="rect">
            <a:avLst/>
          </a:prstGeom>
          <a:solidFill>
            <a:srgbClr val="8A5428"/>
          </a:solidFill>
          <a:ln/>
        </p:spPr>
      </p:sp>
      <p:sp>
        <p:nvSpPr>
          <p:cNvPr id="195" name="cake-13-1"/>
          <p:cNvSpPr/>
          <p:nvPr/>
        </p:nvSpPr>
        <p:spPr>
          <a:xfrm>
            <a:off x="8330992" y="4648134"/>
            <a:ext cx="206853" cy="206853"/>
          </a:xfrm>
          <a:prstGeom prst="rect">
            <a:avLst/>
          </a:prstGeom>
          <a:solidFill>
            <a:srgbClr val="8A5428"/>
          </a:solidFill>
          <a:ln/>
        </p:spPr>
      </p:sp>
      <p:sp>
        <p:nvSpPr>
          <p:cNvPr id="196" name="cake-13-2"/>
          <p:cNvSpPr/>
          <p:nvPr/>
        </p:nvSpPr>
        <p:spPr>
          <a:xfrm>
            <a:off x="8534187" y="4648134"/>
            <a:ext cx="206853" cy="206853"/>
          </a:xfrm>
          <a:prstGeom prst="rect">
            <a:avLst/>
          </a:prstGeom>
          <a:solidFill>
            <a:srgbClr val="8A5428"/>
          </a:solidFill>
          <a:ln/>
        </p:spPr>
      </p:sp>
      <p:sp>
        <p:nvSpPr>
          <p:cNvPr id="197" name="cake-13-3"/>
          <p:cNvSpPr/>
          <p:nvPr/>
        </p:nvSpPr>
        <p:spPr>
          <a:xfrm>
            <a:off x="8737382" y="4648134"/>
            <a:ext cx="206853" cy="206853"/>
          </a:xfrm>
          <a:prstGeom prst="rect">
            <a:avLst/>
          </a:prstGeom>
          <a:solidFill>
            <a:srgbClr val="8A5428"/>
          </a:solidFill>
          <a:ln/>
        </p:spPr>
      </p:sp>
      <p:sp>
        <p:nvSpPr>
          <p:cNvPr id="198" name="cake-13-4"/>
          <p:cNvSpPr/>
          <p:nvPr/>
        </p:nvSpPr>
        <p:spPr>
          <a:xfrm>
            <a:off x="8940576" y="4648134"/>
            <a:ext cx="206853" cy="206853"/>
          </a:xfrm>
          <a:prstGeom prst="rect">
            <a:avLst/>
          </a:prstGeom>
          <a:solidFill>
            <a:srgbClr val="8A5428"/>
          </a:solidFill>
          <a:ln/>
        </p:spPr>
      </p:sp>
      <p:sp>
        <p:nvSpPr>
          <p:cNvPr id="199" name="cake-13-5"/>
          <p:cNvSpPr/>
          <p:nvPr/>
        </p:nvSpPr>
        <p:spPr>
          <a:xfrm>
            <a:off x="9143771" y="4648134"/>
            <a:ext cx="206853" cy="206853"/>
          </a:xfrm>
          <a:prstGeom prst="rect">
            <a:avLst/>
          </a:prstGeom>
          <a:solidFill>
            <a:srgbClr val="8A5428"/>
          </a:solidFill>
          <a:ln/>
        </p:spPr>
      </p:sp>
      <p:sp>
        <p:nvSpPr>
          <p:cNvPr id="200" name="cake-13-6"/>
          <p:cNvSpPr/>
          <p:nvPr/>
        </p:nvSpPr>
        <p:spPr>
          <a:xfrm>
            <a:off x="9346966" y="4648134"/>
            <a:ext cx="206853" cy="206853"/>
          </a:xfrm>
          <a:prstGeom prst="rect">
            <a:avLst/>
          </a:prstGeom>
          <a:solidFill>
            <a:srgbClr val="8A5428"/>
          </a:solidFill>
          <a:ln/>
        </p:spPr>
      </p:sp>
      <p:sp>
        <p:nvSpPr>
          <p:cNvPr id="201" name="cake-13-7"/>
          <p:cNvSpPr/>
          <p:nvPr/>
        </p:nvSpPr>
        <p:spPr>
          <a:xfrm>
            <a:off x="9550161" y="4648134"/>
            <a:ext cx="206853" cy="206853"/>
          </a:xfrm>
          <a:prstGeom prst="rect">
            <a:avLst/>
          </a:prstGeom>
          <a:solidFill>
            <a:srgbClr val="8A5428"/>
          </a:solidFill>
          <a:ln/>
        </p:spPr>
      </p:sp>
      <p:sp>
        <p:nvSpPr>
          <p:cNvPr id="202" name="cake-13-8"/>
          <p:cNvSpPr/>
          <p:nvPr/>
        </p:nvSpPr>
        <p:spPr>
          <a:xfrm>
            <a:off x="9753356" y="4648134"/>
            <a:ext cx="206853" cy="206853"/>
          </a:xfrm>
          <a:prstGeom prst="rect">
            <a:avLst/>
          </a:prstGeom>
          <a:solidFill>
            <a:srgbClr val="8A5428"/>
          </a:solidFill>
          <a:ln/>
        </p:spPr>
      </p:sp>
      <p:sp>
        <p:nvSpPr>
          <p:cNvPr id="203" name="cake-13-9"/>
          <p:cNvSpPr/>
          <p:nvPr/>
        </p:nvSpPr>
        <p:spPr>
          <a:xfrm>
            <a:off x="9956551" y="4648134"/>
            <a:ext cx="206853" cy="206853"/>
          </a:xfrm>
          <a:prstGeom prst="rect">
            <a:avLst/>
          </a:prstGeom>
          <a:solidFill>
            <a:srgbClr val="8A5428"/>
          </a:solidFill>
          <a:ln/>
        </p:spPr>
      </p:sp>
      <p:sp>
        <p:nvSpPr>
          <p:cNvPr id="204" name="cake-13-10"/>
          <p:cNvSpPr/>
          <p:nvPr/>
        </p:nvSpPr>
        <p:spPr>
          <a:xfrm>
            <a:off x="10159746" y="4648134"/>
            <a:ext cx="206853" cy="206853"/>
          </a:xfrm>
          <a:prstGeom prst="rect">
            <a:avLst/>
          </a:prstGeom>
          <a:solidFill>
            <a:srgbClr val="8A5428"/>
          </a:solidFill>
          <a:ln/>
        </p:spPr>
      </p:sp>
      <p:sp>
        <p:nvSpPr>
          <p:cNvPr id="205" name="cake-13-11"/>
          <p:cNvSpPr/>
          <p:nvPr/>
        </p:nvSpPr>
        <p:spPr>
          <a:xfrm>
            <a:off x="10362941" y="4648134"/>
            <a:ext cx="206853" cy="206853"/>
          </a:xfrm>
          <a:prstGeom prst="rect">
            <a:avLst/>
          </a:prstGeom>
          <a:solidFill>
            <a:srgbClr val="8A5428"/>
          </a:solidFill>
          <a:ln/>
        </p:spPr>
      </p:sp>
      <p:sp>
        <p:nvSpPr>
          <p:cNvPr id="206" name="cake-13-12"/>
          <p:cNvSpPr/>
          <p:nvPr/>
        </p:nvSpPr>
        <p:spPr>
          <a:xfrm>
            <a:off x="10566136" y="4648134"/>
            <a:ext cx="206853" cy="206853"/>
          </a:xfrm>
          <a:prstGeom prst="rect">
            <a:avLst/>
          </a:prstGeom>
          <a:solidFill>
            <a:srgbClr val="8A5428"/>
          </a:solidFill>
          <a:ln/>
        </p:spPr>
      </p:sp>
      <p:sp>
        <p:nvSpPr>
          <p:cNvPr id="207" name="cake-13-13"/>
          <p:cNvSpPr/>
          <p:nvPr/>
        </p:nvSpPr>
        <p:spPr>
          <a:xfrm>
            <a:off x="10769331" y="4648134"/>
            <a:ext cx="206853" cy="206853"/>
          </a:xfrm>
          <a:prstGeom prst="rect">
            <a:avLst/>
          </a:prstGeom>
          <a:solidFill>
            <a:srgbClr val="8A5428"/>
          </a:solidFill>
          <a:ln/>
        </p:spPr>
      </p:sp>
      <p:sp>
        <p:nvSpPr>
          <p:cNvPr id="208" name="cake-13-14"/>
          <p:cNvSpPr/>
          <p:nvPr/>
        </p:nvSpPr>
        <p:spPr>
          <a:xfrm>
            <a:off x="10972526" y="4648134"/>
            <a:ext cx="206853" cy="206853"/>
          </a:xfrm>
          <a:prstGeom prst="rect">
            <a:avLst/>
          </a:prstGeom>
          <a:solidFill>
            <a:srgbClr val="8A5428"/>
          </a:solidFill>
          <a:ln/>
        </p:spPr>
      </p:sp>
      <p:sp>
        <p:nvSpPr>
          <p:cNvPr id="209" name="cake-13-15"/>
          <p:cNvSpPr/>
          <p:nvPr/>
        </p:nvSpPr>
        <p:spPr>
          <a:xfrm>
            <a:off x="11175721" y="4648134"/>
            <a:ext cx="206853" cy="206853"/>
          </a:xfrm>
          <a:prstGeom prst="rect">
            <a:avLst/>
          </a:prstGeom>
          <a:solidFill>
            <a:srgbClr val="8A542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Arial" pitchFamily="34" charset="0"/>
                <a:ea typeface="Arial" pitchFamily="34" charset="-122"/>
                <a:cs typeface="Arial" pitchFamily="34" charset="-120"/>
              </a:rPr>
              <a:t>THE PROBLEM</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tx1"/>
                </a:solidFill>
                <a:latin typeface="Trebuchet MS" pitchFamily="34" charset="0"/>
                <a:ea typeface="Trebuchet MS" pitchFamily="34" charset="-122"/>
                <a:cs typeface="Trebuchet MS" pitchFamily="34" charset="-120"/>
              </a:rPr>
              <a:t>Good models outgrow the laptops we own</a:t>
            </a:r>
            <a:endParaRPr lang="en-US" sz="3300" dirty="0"/>
          </a:p>
        </p:txBody>
      </p:sp>
      <p:sp>
        <p:nvSpPr>
          <p:cNvPr id="4" name="card-4"/>
          <p:cNvSpPr/>
          <p:nvPr/>
        </p:nvSpPr>
        <p:spPr>
          <a:xfrm>
            <a:off x="822960" y="1984248"/>
            <a:ext cx="4919472" cy="2057400"/>
          </a:xfrm>
          <a:prstGeom prst="roundRect">
            <a:avLst>
              <a:gd name="adj" fmla="val 5333"/>
            </a:avLst>
          </a:prstGeom>
          <a:solidFill>
            <a:srgbClr val="FFFDF8"/>
          </a:solidFill>
          <a:ln w="12700">
            <a:solidFill>
              <a:srgbClr val="EFE6D8"/>
            </a:solidFill>
            <a:prstDash val="solid"/>
          </a:ln>
        </p:spPr>
      </p:sp>
      <p:sp>
        <p:nvSpPr>
          <p:cNvPr id="5" name="text-5"/>
          <p:cNvSpPr txBox="1"/>
          <p:nvPr/>
        </p:nvSpPr>
        <p:spPr>
          <a:xfrm>
            <a:off x="1170432" y="2286000"/>
            <a:ext cx="4297680" cy="868680"/>
          </a:xfrm>
          <a:prstGeom prst="rect">
            <a:avLst/>
          </a:prstGeom>
          <a:noFill/>
          <a:ln/>
        </p:spPr>
        <p:txBody>
          <a:bodyPr wrap="square" lIns="0" tIns="0" rIns="0" bIns="0" rtlCol="0" anchor="t"/>
          <a:lstStyle/>
          <a:p>
            <a:pPr indent="0" marL="0">
              <a:buNone/>
            </a:pPr>
            <a:r>
              <a:rPr lang="en-US" sz="6000" b="1" dirty="0">
                <a:solidFill>
                  <a:schemeClr val="tx1"/>
                </a:solidFill>
                <a:latin typeface="Trebuchet MS" pitchFamily="34" charset="0"/>
                <a:ea typeface="Trebuchet MS" pitchFamily="34" charset="-122"/>
                <a:cs typeface="Trebuchet MS" pitchFamily="34" charset="-120"/>
              </a:rPr>
              <a:t>19.9 GB</a:t>
            </a:r>
            <a:endParaRPr lang="en-US" sz="6000" dirty="0"/>
          </a:p>
        </p:txBody>
      </p:sp>
      <p:sp>
        <p:nvSpPr>
          <p:cNvPr id="6" name="text-6"/>
          <p:cNvSpPr txBox="1"/>
          <p:nvPr/>
        </p:nvSpPr>
        <p:spPr>
          <a:xfrm>
            <a:off x="1170432" y="3218688"/>
            <a:ext cx="4297680" cy="640080"/>
          </a:xfrm>
          <a:prstGeom prst="rect">
            <a:avLst/>
          </a:prstGeom>
          <a:noFill/>
          <a:ln/>
        </p:spPr>
        <p:txBody>
          <a:bodyPr wrap="square" lIns="0" tIns="0" rIns="0" bIns="0" rtlCol="0" anchor="t"/>
          <a:lstStyle/>
          <a:p>
            <a:pPr indent="0" marL="0">
              <a:buNone/>
            </a:pPr>
            <a:r>
              <a:rPr lang="en-US" sz="1500" dirty="0">
                <a:solidFill>
                  <a:schemeClr val="accent6"/>
                </a:solidFill>
                <a:latin typeface="Arial" pitchFamily="34" charset="0"/>
                <a:ea typeface="Arial" pitchFamily="34" charset="-122"/>
                <a:cs typeface="Arial" pitchFamily="34" charset="-120"/>
              </a:rPr>
              <a:t>Weights of Qwen2.5-32B at Q4_K_M, before context and scratch memory.</a:t>
            </a:r>
            <a:endParaRPr lang="en-US" sz="1500" dirty="0"/>
          </a:p>
        </p:txBody>
      </p:sp>
      <p:sp>
        <p:nvSpPr>
          <p:cNvPr id="7" name="card-7"/>
          <p:cNvSpPr/>
          <p:nvPr/>
        </p:nvSpPr>
        <p:spPr>
          <a:xfrm>
            <a:off x="6446520" y="1984248"/>
            <a:ext cx="4919472" cy="2057400"/>
          </a:xfrm>
          <a:prstGeom prst="roundRect">
            <a:avLst>
              <a:gd name="adj" fmla="val 5333"/>
            </a:avLst>
          </a:prstGeom>
          <a:solidFill>
            <a:srgbClr val="FFFDF8"/>
          </a:solidFill>
          <a:ln w="12700">
            <a:solidFill>
              <a:srgbClr val="EFE6D8"/>
            </a:solidFill>
            <a:prstDash val="solid"/>
          </a:ln>
        </p:spPr>
      </p:sp>
      <p:sp>
        <p:nvSpPr>
          <p:cNvPr id="8" name="text-8"/>
          <p:cNvSpPr txBox="1"/>
          <p:nvPr/>
        </p:nvSpPr>
        <p:spPr>
          <a:xfrm>
            <a:off x="6793992" y="2286000"/>
            <a:ext cx="4297680" cy="868680"/>
          </a:xfrm>
          <a:prstGeom prst="rect">
            <a:avLst/>
          </a:prstGeom>
          <a:noFill/>
          <a:ln/>
        </p:spPr>
        <p:txBody>
          <a:bodyPr wrap="square" lIns="0" tIns="0" rIns="0" bIns="0" rtlCol="0" anchor="t"/>
          <a:lstStyle/>
          <a:p>
            <a:pPr indent="0" marL="0">
              <a:buNone/>
            </a:pPr>
            <a:r>
              <a:rPr lang="en-US" sz="6000" b="1" dirty="0">
                <a:solidFill>
                  <a:schemeClr val="tx1"/>
                </a:solidFill>
                <a:latin typeface="Trebuchet MS" pitchFamily="34" charset="0"/>
                <a:ea typeface="Trebuchet MS" pitchFamily="34" charset="-122"/>
                <a:cs typeface="Trebuchet MS" pitchFamily="34" charset="-120"/>
              </a:rPr>
              <a:t>16 GiB</a:t>
            </a:r>
            <a:endParaRPr lang="en-US" sz="6000" dirty="0"/>
          </a:p>
        </p:txBody>
      </p:sp>
      <p:sp>
        <p:nvSpPr>
          <p:cNvPr id="9" name="text-9"/>
          <p:cNvSpPr txBox="1"/>
          <p:nvPr/>
        </p:nvSpPr>
        <p:spPr>
          <a:xfrm>
            <a:off x="6793992" y="3218688"/>
            <a:ext cx="4297680" cy="640080"/>
          </a:xfrm>
          <a:prstGeom prst="rect">
            <a:avLst/>
          </a:prstGeom>
          <a:noFill/>
          <a:ln/>
        </p:spPr>
        <p:txBody>
          <a:bodyPr wrap="square" lIns="0" tIns="0" rIns="0" bIns="0" rtlCol="0" anchor="t"/>
          <a:lstStyle/>
          <a:p>
            <a:pPr indent="0" marL="0">
              <a:buNone/>
            </a:pPr>
            <a:r>
              <a:rPr lang="en-US" sz="1500" dirty="0">
                <a:solidFill>
                  <a:schemeClr val="accent6"/>
                </a:solidFill>
                <a:latin typeface="Arial" pitchFamily="34" charset="0"/>
                <a:ea typeface="Arial" pitchFamily="34" charset="-122"/>
                <a:cs typeface="Arial" pitchFamily="34" charset="-120"/>
              </a:rPr>
              <a:t>Physical RAM in each of the two Macs we had, and the owner still needs some of it.</a:t>
            </a:r>
            <a:endParaRPr lang="en-US" sz="1500" dirty="0"/>
          </a:p>
        </p:txBody>
      </p:sp>
      <p:sp>
        <p:nvSpPr>
          <p:cNvPr id="10" name="text-10"/>
          <p:cNvSpPr txBox="1"/>
          <p:nvPr/>
        </p:nvSpPr>
        <p:spPr>
          <a:xfrm>
            <a:off x="5961888" y="2697480"/>
            <a:ext cx="365760" cy="548640"/>
          </a:xfrm>
          <a:prstGeom prst="rect">
            <a:avLst/>
          </a:prstGeom>
          <a:noFill/>
          <a:ln/>
        </p:spPr>
        <p:txBody>
          <a:bodyPr wrap="square" lIns="0" tIns="0" rIns="0" bIns="0" rtlCol="0" anchor="t"/>
          <a:lstStyle/>
          <a:p>
            <a:pPr algn="ctr" indent="0" marL="0">
              <a:buNone/>
            </a:pPr>
            <a:r>
              <a:rPr lang="en-US" sz="4000" b="1" dirty="0">
                <a:solidFill>
                  <a:schemeClr val="accent1"/>
                </a:solidFill>
                <a:latin typeface="Arial" pitchFamily="34" charset="0"/>
                <a:ea typeface="Arial" pitchFamily="34" charset="-122"/>
                <a:cs typeface="Arial" pitchFamily="34" charset="-120"/>
              </a:rPr>
              <a:t>›</a:t>
            </a:r>
            <a:endParaRPr lang="en-US" sz="4000" dirty="0"/>
          </a:p>
        </p:txBody>
      </p:sp>
      <p:sp>
        <p:nvSpPr>
          <p:cNvPr id="11" name="text-11"/>
          <p:cNvSpPr txBox="1"/>
          <p:nvPr/>
        </p:nvSpPr>
        <p:spPr>
          <a:xfrm>
            <a:off x="822960" y="4389120"/>
            <a:ext cx="10424160" cy="640080"/>
          </a:xfrm>
          <a:prstGeom prst="rect">
            <a:avLst/>
          </a:prstGeom>
          <a:noFill/>
          <a:ln/>
        </p:spPr>
        <p:txBody>
          <a:bodyPr wrap="square" lIns="0" tIns="0" rIns="0" bIns="0" rtlCol="0" anchor="t"/>
          <a:lstStyle/>
          <a:p>
            <a:pPr indent="0" marL="0">
              <a:buNone/>
            </a:pPr>
            <a:r>
              <a:rPr lang="en-US" sz="1600" dirty="0">
                <a:solidFill>
                  <a:schemeClr val="accent6"/>
                </a:solidFill>
                <a:latin typeface="Arial" pitchFamily="34" charset="0"/>
                <a:ea typeface="Arial" pitchFamily="34" charset="-122"/>
                <a:cs typeface="Arial" pitchFamily="34" charset="-120"/>
              </a:rPr>
              <a:t>Cloud GPUs fix the size but cost money and send your prompts off-device. We wanted the machines already in the room to pool their memory instead.</a:t>
            </a:r>
            <a:endParaRPr lang="en-US" sz="1600" dirty="0"/>
          </a:p>
        </p:txBody>
      </p:sp>
      <p:sp>
        <p:nvSpPr>
          <p:cNvPr id="12" name="text-12"/>
          <p:cNvSpPr txBox="1"/>
          <p:nvPr/>
        </p:nvSpPr>
        <p:spPr>
          <a:xfrm>
            <a:off x="822960" y="6236208"/>
            <a:ext cx="7315200" cy="274320"/>
          </a:xfrm>
          <a:prstGeom prst="rect">
            <a:avLst/>
          </a:prstGeom>
          <a:noFill/>
          <a:ln/>
        </p:spPr>
        <p:txBody>
          <a:bodyPr wrap="square" lIns="0" tIns="0" rIns="0" bIns="0" rtlCol="0" anchor="t"/>
          <a:lstStyle/>
          <a:p>
            <a:pPr indent="0" marL="0">
              <a:buNone/>
            </a:pPr>
            <a:r>
              <a:rPr lang="en-US" sz="1000" dirty="0">
                <a:solidFill>
                  <a:schemeClr val="accent6"/>
                </a:solidFill>
                <a:latin typeface="Arial" pitchFamily="34" charset="0"/>
                <a:ea typeface="Arial" pitchFamily="34" charset="-122"/>
                <a:cs typeface="Arial" pitchFamily="34" charset="-120"/>
              </a:rPr>
              <a:t>Source: experiments/model-validation/SHARD_RUNNER.md</a:t>
            </a:r>
            <a:endParaRPr lang="en-US" sz="10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3"/>
                </a:solidFill>
                <a:latin typeface="Arial" pitchFamily="34" charset="0"/>
                <a:ea typeface="Arial" pitchFamily="34" charset="-122"/>
                <a:cs typeface="Arial" pitchFamily="34" charset="-120"/>
              </a:rPr>
              <a:t>THE IDEA</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bg1"/>
                </a:solidFill>
                <a:latin typeface="Trebuchet MS" pitchFamily="34" charset="0"/>
                <a:ea typeface="Trebuchet MS" pitchFamily="34" charset="-122"/>
                <a:cs typeface="Trebuchet MS" pitchFamily="34" charset="-120"/>
              </a:rPr>
              <a:t>Every device has a part</a:t>
            </a:r>
            <a:endParaRPr lang="en-US" sz="3300" dirty="0"/>
          </a:p>
        </p:txBody>
      </p:sp>
      <p:sp>
        <p:nvSpPr>
          <p:cNvPr id="4" name="layer-0"/>
          <p:cNvSpPr/>
          <p:nvPr/>
        </p:nvSpPr>
        <p:spPr>
          <a:xfrm>
            <a:off x="822960" y="1984248"/>
            <a:ext cx="128730" cy="429768"/>
          </a:xfrm>
          <a:prstGeom prst="roundRect">
            <a:avLst>
              <a:gd name="adj" fmla="val 21310"/>
            </a:avLst>
          </a:prstGeom>
          <a:solidFill>
            <a:schemeClr val="accent2"/>
          </a:solidFill>
          <a:ln/>
        </p:spPr>
      </p:sp>
      <p:sp>
        <p:nvSpPr>
          <p:cNvPr id="5" name="layer-1"/>
          <p:cNvSpPr/>
          <p:nvPr/>
        </p:nvSpPr>
        <p:spPr>
          <a:xfrm>
            <a:off x="988266" y="1984248"/>
            <a:ext cx="128730" cy="429768"/>
          </a:xfrm>
          <a:prstGeom prst="roundRect">
            <a:avLst>
              <a:gd name="adj" fmla="val 21310"/>
            </a:avLst>
          </a:prstGeom>
          <a:solidFill>
            <a:schemeClr val="accent2"/>
          </a:solidFill>
          <a:ln/>
        </p:spPr>
      </p:sp>
      <p:sp>
        <p:nvSpPr>
          <p:cNvPr id="6" name="layer-2"/>
          <p:cNvSpPr/>
          <p:nvPr/>
        </p:nvSpPr>
        <p:spPr>
          <a:xfrm>
            <a:off x="1153573" y="1984248"/>
            <a:ext cx="128730" cy="429768"/>
          </a:xfrm>
          <a:prstGeom prst="roundRect">
            <a:avLst>
              <a:gd name="adj" fmla="val 21310"/>
            </a:avLst>
          </a:prstGeom>
          <a:solidFill>
            <a:schemeClr val="accent2"/>
          </a:solidFill>
          <a:ln/>
        </p:spPr>
      </p:sp>
      <p:sp>
        <p:nvSpPr>
          <p:cNvPr id="7" name="layer-3"/>
          <p:cNvSpPr/>
          <p:nvPr/>
        </p:nvSpPr>
        <p:spPr>
          <a:xfrm>
            <a:off x="1318879" y="1984248"/>
            <a:ext cx="128730" cy="429768"/>
          </a:xfrm>
          <a:prstGeom prst="roundRect">
            <a:avLst>
              <a:gd name="adj" fmla="val 21310"/>
            </a:avLst>
          </a:prstGeom>
          <a:solidFill>
            <a:schemeClr val="accent2"/>
          </a:solidFill>
          <a:ln/>
        </p:spPr>
      </p:sp>
      <p:sp>
        <p:nvSpPr>
          <p:cNvPr id="8" name="layer-4"/>
          <p:cNvSpPr/>
          <p:nvPr/>
        </p:nvSpPr>
        <p:spPr>
          <a:xfrm>
            <a:off x="1484186" y="1984248"/>
            <a:ext cx="128730" cy="429768"/>
          </a:xfrm>
          <a:prstGeom prst="roundRect">
            <a:avLst>
              <a:gd name="adj" fmla="val 21310"/>
            </a:avLst>
          </a:prstGeom>
          <a:solidFill>
            <a:schemeClr val="accent2"/>
          </a:solidFill>
          <a:ln/>
        </p:spPr>
      </p:sp>
      <p:sp>
        <p:nvSpPr>
          <p:cNvPr id="9" name="layer-5"/>
          <p:cNvSpPr/>
          <p:nvPr/>
        </p:nvSpPr>
        <p:spPr>
          <a:xfrm>
            <a:off x="1649492" y="1984248"/>
            <a:ext cx="128730" cy="429768"/>
          </a:xfrm>
          <a:prstGeom prst="roundRect">
            <a:avLst>
              <a:gd name="adj" fmla="val 21310"/>
            </a:avLst>
          </a:prstGeom>
          <a:solidFill>
            <a:schemeClr val="accent2"/>
          </a:solidFill>
          <a:ln/>
        </p:spPr>
      </p:sp>
      <p:sp>
        <p:nvSpPr>
          <p:cNvPr id="10" name="layer-6"/>
          <p:cNvSpPr/>
          <p:nvPr/>
        </p:nvSpPr>
        <p:spPr>
          <a:xfrm>
            <a:off x="1814798" y="1984248"/>
            <a:ext cx="128730" cy="429768"/>
          </a:xfrm>
          <a:prstGeom prst="roundRect">
            <a:avLst>
              <a:gd name="adj" fmla="val 21310"/>
            </a:avLst>
          </a:prstGeom>
          <a:solidFill>
            <a:schemeClr val="accent2"/>
          </a:solidFill>
          <a:ln/>
        </p:spPr>
      </p:sp>
      <p:sp>
        <p:nvSpPr>
          <p:cNvPr id="11" name="layer-7"/>
          <p:cNvSpPr/>
          <p:nvPr/>
        </p:nvSpPr>
        <p:spPr>
          <a:xfrm>
            <a:off x="1980105" y="1984248"/>
            <a:ext cx="128730" cy="429768"/>
          </a:xfrm>
          <a:prstGeom prst="roundRect">
            <a:avLst>
              <a:gd name="adj" fmla="val 21310"/>
            </a:avLst>
          </a:prstGeom>
          <a:solidFill>
            <a:schemeClr val="accent2"/>
          </a:solidFill>
          <a:ln/>
        </p:spPr>
      </p:sp>
      <p:sp>
        <p:nvSpPr>
          <p:cNvPr id="12" name="layer-8"/>
          <p:cNvSpPr/>
          <p:nvPr/>
        </p:nvSpPr>
        <p:spPr>
          <a:xfrm>
            <a:off x="2145411" y="1984248"/>
            <a:ext cx="128730" cy="429768"/>
          </a:xfrm>
          <a:prstGeom prst="roundRect">
            <a:avLst>
              <a:gd name="adj" fmla="val 21310"/>
            </a:avLst>
          </a:prstGeom>
          <a:solidFill>
            <a:schemeClr val="accent2"/>
          </a:solidFill>
          <a:ln/>
        </p:spPr>
      </p:sp>
      <p:sp>
        <p:nvSpPr>
          <p:cNvPr id="13" name="layer-9"/>
          <p:cNvSpPr/>
          <p:nvPr/>
        </p:nvSpPr>
        <p:spPr>
          <a:xfrm>
            <a:off x="2310717" y="1984248"/>
            <a:ext cx="128730" cy="429768"/>
          </a:xfrm>
          <a:prstGeom prst="roundRect">
            <a:avLst>
              <a:gd name="adj" fmla="val 21310"/>
            </a:avLst>
          </a:prstGeom>
          <a:solidFill>
            <a:schemeClr val="accent2"/>
          </a:solidFill>
          <a:ln/>
        </p:spPr>
      </p:sp>
      <p:sp>
        <p:nvSpPr>
          <p:cNvPr id="14" name="layer-10"/>
          <p:cNvSpPr/>
          <p:nvPr/>
        </p:nvSpPr>
        <p:spPr>
          <a:xfrm>
            <a:off x="2476024" y="1984248"/>
            <a:ext cx="128730" cy="429768"/>
          </a:xfrm>
          <a:prstGeom prst="roundRect">
            <a:avLst>
              <a:gd name="adj" fmla="val 21310"/>
            </a:avLst>
          </a:prstGeom>
          <a:solidFill>
            <a:schemeClr val="accent2"/>
          </a:solidFill>
          <a:ln/>
        </p:spPr>
      </p:sp>
      <p:sp>
        <p:nvSpPr>
          <p:cNvPr id="15" name="layer-11"/>
          <p:cNvSpPr/>
          <p:nvPr/>
        </p:nvSpPr>
        <p:spPr>
          <a:xfrm>
            <a:off x="2641330" y="1984248"/>
            <a:ext cx="128730" cy="429768"/>
          </a:xfrm>
          <a:prstGeom prst="roundRect">
            <a:avLst>
              <a:gd name="adj" fmla="val 21310"/>
            </a:avLst>
          </a:prstGeom>
          <a:solidFill>
            <a:schemeClr val="accent2"/>
          </a:solidFill>
          <a:ln/>
        </p:spPr>
      </p:sp>
      <p:sp>
        <p:nvSpPr>
          <p:cNvPr id="16" name="layer-12"/>
          <p:cNvSpPr/>
          <p:nvPr/>
        </p:nvSpPr>
        <p:spPr>
          <a:xfrm>
            <a:off x="2806637" y="1984248"/>
            <a:ext cx="128730" cy="429768"/>
          </a:xfrm>
          <a:prstGeom prst="roundRect">
            <a:avLst>
              <a:gd name="adj" fmla="val 21310"/>
            </a:avLst>
          </a:prstGeom>
          <a:solidFill>
            <a:schemeClr val="accent2"/>
          </a:solidFill>
          <a:ln/>
        </p:spPr>
      </p:sp>
      <p:sp>
        <p:nvSpPr>
          <p:cNvPr id="17" name="layer-13"/>
          <p:cNvSpPr/>
          <p:nvPr/>
        </p:nvSpPr>
        <p:spPr>
          <a:xfrm>
            <a:off x="2971943" y="1984248"/>
            <a:ext cx="128730" cy="429768"/>
          </a:xfrm>
          <a:prstGeom prst="roundRect">
            <a:avLst>
              <a:gd name="adj" fmla="val 21310"/>
            </a:avLst>
          </a:prstGeom>
          <a:solidFill>
            <a:schemeClr val="accent2"/>
          </a:solidFill>
          <a:ln/>
        </p:spPr>
      </p:sp>
      <p:sp>
        <p:nvSpPr>
          <p:cNvPr id="18" name="layer-14"/>
          <p:cNvSpPr/>
          <p:nvPr/>
        </p:nvSpPr>
        <p:spPr>
          <a:xfrm>
            <a:off x="3137249" y="1984248"/>
            <a:ext cx="128730" cy="429768"/>
          </a:xfrm>
          <a:prstGeom prst="roundRect">
            <a:avLst>
              <a:gd name="adj" fmla="val 21310"/>
            </a:avLst>
          </a:prstGeom>
          <a:solidFill>
            <a:schemeClr val="accent2"/>
          </a:solidFill>
          <a:ln/>
        </p:spPr>
      </p:sp>
      <p:sp>
        <p:nvSpPr>
          <p:cNvPr id="19" name="layer-15"/>
          <p:cNvSpPr/>
          <p:nvPr/>
        </p:nvSpPr>
        <p:spPr>
          <a:xfrm>
            <a:off x="3302556" y="1984248"/>
            <a:ext cx="128730" cy="429768"/>
          </a:xfrm>
          <a:prstGeom prst="roundRect">
            <a:avLst>
              <a:gd name="adj" fmla="val 21310"/>
            </a:avLst>
          </a:prstGeom>
          <a:solidFill>
            <a:schemeClr val="accent2"/>
          </a:solidFill>
          <a:ln/>
        </p:spPr>
      </p:sp>
      <p:sp>
        <p:nvSpPr>
          <p:cNvPr id="20" name="layer-16"/>
          <p:cNvSpPr/>
          <p:nvPr/>
        </p:nvSpPr>
        <p:spPr>
          <a:xfrm>
            <a:off x="3467862" y="1984248"/>
            <a:ext cx="128730" cy="429768"/>
          </a:xfrm>
          <a:prstGeom prst="roundRect">
            <a:avLst>
              <a:gd name="adj" fmla="val 21310"/>
            </a:avLst>
          </a:prstGeom>
          <a:solidFill>
            <a:schemeClr val="accent2"/>
          </a:solidFill>
          <a:ln/>
        </p:spPr>
      </p:sp>
      <p:sp>
        <p:nvSpPr>
          <p:cNvPr id="21" name="layer-17"/>
          <p:cNvSpPr/>
          <p:nvPr/>
        </p:nvSpPr>
        <p:spPr>
          <a:xfrm>
            <a:off x="3633168" y="1984248"/>
            <a:ext cx="128730" cy="429768"/>
          </a:xfrm>
          <a:prstGeom prst="roundRect">
            <a:avLst>
              <a:gd name="adj" fmla="val 21310"/>
            </a:avLst>
          </a:prstGeom>
          <a:solidFill>
            <a:schemeClr val="accent2"/>
          </a:solidFill>
          <a:ln/>
        </p:spPr>
      </p:sp>
      <p:sp>
        <p:nvSpPr>
          <p:cNvPr id="22" name="layer-18"/>
          <p:cNvSpPr/>
          <p:nvPr/>
        </p:nvSpPr>
        <p:spPr>
          <a:xfrm>
            <a:off x="3798475" y="1984248"/>
            <a:ext cx="128730" cy="429768"/>
          </a:xfrm>
          <a:prstGeom prst="roundRect">
            <a:avLst>
              <a:gd name="adj" fmla="val 21310"/>
            </a:avLst>
          </a:prstGeom>
          <a:solidFill>
            <a:schemeClr val="accent2"/>
          </a:solidFill>
          <a:ln/>
        </p:spPr>
      </p:sp>
      <p:sp>
        <p:nvSpPr>
          <p:cNvPr id="23" name="layer-19"/>
          <p:cNvSpPr/>
          <p:nvPr/>
        </p:nvSpPr>
        <p:spPr>
          <a:xfrm>
            <a:off x="3963781" y="1984248"/>
            <a:ext cx="128730" cy="429768"/>
          </a:xfrm>
          <a:prstGeom prst="roundRect">
            <a:avLst>
              <a:gd name="adj" fmla="val 21310"/>
            </a:avLst>
          </a:prstGeom>
          <a:solidFill>
            <a:schemeClr val="accent2"/>
          </a:solidFill>
          <a:ln/>
        </p:spPr>
      </p:sp>
      <p:sp>
        <p:nvSpPr>
          <p:cNvPr id="24" name="layer-20"/>
          <p:cNvSpPr/>
          <p:nvPr/>
        </p:nvSpPr>
        <p:spPr>
          <a:xfrm>
            <a:off x="4129088" y="1984248"/>
            <a:ext cx="128730" cy="429768"/>
          </a:xfrm>
          <a:prstGeom prst="roundRect">
            <a:avLst>
              <a:gd name="adj" fmla="val 21310"/>
            </a:avLst>
          </a:prstGeom>
          <a:solidFill>
            <a:schemeClr val="accent2"/>
          </a:solidFill>
          <a:ln/>
        </p:spPr>
      </p:sp>
      <p:sp>
        <p:nvSpPr>
          <p:cNvPr id="25" name="layer-21"/>
          <p:cNvSpPr/>
          <p:nvPr/>
        </p:nvSpPr>
        <p:spPr>
          <a:xfrm>
            <a:off x="4294394" y="1984248"/>
            <a:ext cx="128730" cy="429768"/>
          </a:xfrm>
          <a:prstGeom prst="roundRect">
            <a:avLst>
              <a:gd name="adj" fmla="val 21310"/>
            </a:avLst>
          </a:prstGeom>
          <a:solidFill>
            <a:schemeClr val="accent2"/>
          </a:solidFill>
          <a:ln/>
        </p:spPr>
      </p:sp>
      <p:sp>
        <p:nvSpPr>
          <p:cNvPr id="26" name="layer-22"/>
          <p:cNvSpPr/>
          <p:nvPr/>
        </p:nvSpPr>
        <p:spPr>
          <a:xfrm>
            <a:off x="4459700" y="1984248"/>
            <a:ext cx="128730" cy="429768"/>
          </a:xfrm>
          <a:prstGeom prst="roundRect">
            <a:avLst>
              <a:gd name="adj" fmla="val 21310"/>
            </a:avLst>
          </a:prstGeom>
          <a:solidFill>
            <a:schemeClr val="accent2"/>
          </a:solidFill>
          <a:ln/>
        </p:spPr>
      </p:sp>
      <p:sp>
        <p:nvSpPr>
          <p:cNvPr id="27" name="layer-23"/>
          <p:cNvSpPr/>
          <p:nvPr/>
        </p:nvSpPr>
        <p:spPr>
          <a:xfrm>
            <a:off x="4625007" y="1984248"/>
            <a:ext cx="128730" cy="429768"/>
          </a:xfrm>
          <a:prstGeom prst="roundRect">
            <a:avLst>
              <a:gd name="adj" fmla="val 21310"/>
            </a:avLst>
          </a:prstGeom>
          <a:solidFill>
            <a:schemeClr val="accent2"/>
          </a:solidFill>
          <a:ln/>
        </p:spPr>
      </p:sp>
      <p:sp>
        <p:nvSpPr>
          <p:cNvPr id="28" name="layer-24"/>
          <p:cNvSpPr/>
          <p:nvPr/>
        </p:nvSpPr>
        <p:spPr>
          <a:xfrm>
            <a:off x="4790313" y="1984248"/>
            <a:ext cx="128730" cy="429768"/>
          </a:xfrm>
          <a:prstGeom prst="roundRect">
            <a:avLst>
              <a:gd name="adj" fmla="val 21310"/>
            </a:avLst>
          </a:prstGeom>
          <a:solidFill>
            <a:schemeClr val="accent2"/>
          </a:solidFill>
          <a:ln/>
        </p:spPr>
      </p:sp>
      <p:sp>
        <p:nvSpPr>
          <p:cNvPr id="29" name="layer-25"/>
          <p:cNvSpPr/>
          <p:nvPr/>
        </p:nvSpPr>
        <p:spPr>
          <a:xfrm>
            <a:off x="4955619" y="1984248"/>
            <a:ext cx="128730" cy="429768"/>
          </a:xfrm>
          <a:prstGeom prst="roundRect">
            <a:avLst>
              <a:gd name="adj" fmla="val 21310"/>
            </a:avLst>
          </a:prstGeom>
          <a:solidFill>
            <a:schemeClr val="accent2"/>
          </a:solidFill>
          <a:ln/>
        </p:spPr>
      </p:sp>
      <p:sp>
        <p:nvSpPr>
          <p:cNvPr id="30" name="layer-26"/>
          <p:cNvSpPr/>
          <p:nvPr/>
        </p:nvSpPr>
        <p:spPr>
          <a:xfrm>
            <a:off x="5120926" y="1984248"/>
            <a:ext cx="128730" cy="429768"/>
          </a:xfrm>
          <a:prstGeom prst="roundRect">
            <a:avLst>
              <a:gd name="adj" fmla="val 21310"/>
            </a:avLst>
          </a:prstGeom>
          <a:solidFill>
            <a:schemeClr val="accent2"/>
          </a:solidFill>
          <a:ln/>
        </p:spPr>
      </p:sp>
      <p:sp>
        <p:nvSpPr>
          <p:cNvPr id="31" name="layer-27"/>
          <p:cNvSpPr/>
          <p:nvPr/>
        </p:nvSpPr>
        <p:spPr>
          <a:xfrm>
            <a:off x="5286232" y="1984248"/>
            <a:ext cx="128730" cy="429768"/>
          </a:xfrm>
          <a:prstGeom prst="roundRect">
            <a:avLst>
              <a:gd name="adj" fmla="val 21310"/>
            </a:avLst>
          </a:prstGeom>
          <a:solidFill>
            <a:schemeClr val="accent2"/>
          </a:solidFill>
          <a:ln/>
        </p:spPr>
      </p:sp>
      <p:sp>
        <p:nvSpPr>
          <p:cNvPr id="32" name="layer-28"/>
          <p:cNvSpPr/>
          <p:nvPr/>
        </p:nvSpPr>
        <p:spPr>
          <a:xfrm>
            <a:off x="5451539" y="1984248"/>
            <a:ext cx="128730" cy="429768"/>
          </a:xfrm>
          <a:prstGeom prst="roundRect">
            <a:avLst>
              <a:gd name="adj" fmla="val 21310"/>
            </a:avLst>
          </a:prstGeom>
          <a:solidFill>
            <a:schemeClr val="accent2"/>
          </a:solidFill>
          <a:ln/>
        </p:spPr>
      </p:sp>
      <p:sp>
        <p:nvSpPr>
          <p:cNvPr id="33" name="layer-29"/>
          <p:cNvSpPr/>
          <p:nvPr/>
        </p:nvSpPr>
        <p:spPr>
          <a:xfrm>
            <a:off x="5616845" y="1984248"/>
            <a:ext cx="128730" cy="429768"/>
          </a:xfrm>
          <a:prstGeom prst="roundRect">
            <a:avLst>
              <a:gd name="adj" fmla="val 21310"/>
            </a:avLst>
          </a:prstGeom>
          <a:solidFill>
            <a:schemeClr val="accent2"/>
          </a:solidFill>
          <a:ln/>
        </p:spPr>
      </p:sp>
      <p:sp>
        <p:nvSpPr>
          <p:cNvPr id="34" name="layer-30"/>
          <p:cNvSpPr/>
          <p:nvPr/>
        </p:nvSpPr>
        <p:spPr>
          <a:xfrm>
            <a:off x="5782151" y="1984248"/>
            <a:ext cx="128730" cy="429768"/>
          </a:xfrm>
          <a:prstGeom prst="roundRect">
            <a:avLst>
              <a:gd name="adj" fmla="val 21310"/>
            </a:avLst>
          </a:prstGeom>
          <a:solidFill>
            <a:schemeClr val="accent2"/>
          </a:solidFill>
          <a:ln/>
        </p:spPr>
      </p:sp>
      <p:sp>
        <p:nvSpPr>
          <p:cNvPr id="35" name="layer-31"/>
          <p:cNvSpPr/>
          <p:nvPr/>
        </p:nvSpPr>
        <p:spPr>
          <a:xfrm>
            <a:off x="5947458" y="1984248"/>
            <a:ext cx="128730" cy="429768"/>
          </a:xfrm>
          <a:prstGeom prst="roundRect">
            <a:avLst>
              <a:gd name="adj" fmla="val 21310"/>
            </a:avLst>
          </a:prstGeom>
          <a:solidFill>
            <a:schemeClr val="accent2"/>
          </a:solidFill>
          <a:ln/>
        </p:spPr>
      </p:sp>
      <p:sp>
        <p:nvSpPr>
          <p:cNvPr id="36" name="layer-32"/>
          <p:cNvSpPr/>
          <p:nvPr/>
        </p:nvSpPr>
        <p:spPr>
          <a:xfrm>
            <a:off x="6112764" y="1984248"/>
            <a:ext cx="128730" cy="429768"/>
          </a:xfrm>
          <a:prstGeom prst="roundRect">
            <a:avLst>
              <a:gd name="adj" fmla="val 21310"/>
            </a:avLst>
          </a:prstGeom>
          <a:solidFill>
            <a:srgbClr val="F6EBDD"/>
          </a:solidFill>
          <a:ln/>
        </p:spPr>
      </p:sp>
      <p:sp>
        <p:nvSpPr>
          <p:cNvPr id="37" name="layer-33"/>
          <p:cNvSpPr/>
          <p:nvPr/>
        </p:nvSpPr>
        <p:spPr>
          <a:xfrm>
            <a:off x="6278070" y="1984248"/>
            <a:ext cx="128730" cy="429768"/>
          </a:xfrm>
          <a:prstGeom prst="roundRect">
            <a:avLst>
              <a:gd name="adj" fmla="val 21310"/>
            </a:avLst>
          </a:prstGeom>
          <a:solidFill>
            <a:srgbClr val="F6EBDD"/>
          </a:solidFill>
          <a:ln/>
        </p:spPr>
      </p:sp>
      <p:sp>
        <p:nvSpPr>
          <p:cNvPr id="38" name="layer-34"/>
          <p:cNvSpPr/>
          <p:nvPr/>
        </p:nvSpPr>
        <p:spPr>
          <a:xfrm>
            <a:off x="6443377" y="1984248"/>
            <a:ext cx="128730" cy="429768"/>
          </a:xfrm>
          <a:prstGeom prst="roundRect">
            <a:avLst>
              <a:gd name="adj" fmla="val 21310"/>
            </a:avLst>
          </a:prstGeom>
          <a:solidFill>
            <a:srgbClr val="F6EBDD"/>
          </a:solidFill>
          <a:ln/>
        </p:spPr>
      </p:sp>
      <p:sp>
        <p:nvSpPr>
          <p:cNvPr id="39" name="layer-35"/>
          <p:cNvSpPr/>
          <p:nvPr/>
        </p:nvSpPr>
        <p:spPr>
          <a:xfrm>
            <a:off x="6608683" y="1984248"/>
            <a:ext cx="128730" cy="429768"/>
          </a:xfrm>
          <a:prstGeom prst="roundRect">
            <a:avLst>
              <a:gd name="adj" fmla="val 21310"/>
            </a:avLst>
          </a:prstGeom>
          <a:solidFill>
            <a:srgbClr val="F6EBDD"/>
          </a:solidFill>
          <a:ln/>
        </p:spPr>
      </p:sp>
      <p:sp>
        <p:nvSpPr>
          <p:cNvPr id="40" name="layer-36"/>
          <p:cNvSpPr/>
          <p:nvPr/>
        </p:nvSpPr>
        <p:spPr>
          <a:xfrm>
            <a:off x="6773990" y="1984248"/>
            <a:ext cx="128730" cy="429768"/>
          </a:xfrm>
          <a:prstGeom prst="roundRect">
            <a:avLst>
              <a:gd name="adj" fmla="val 21310"/>
            </a:avLst>
          </a:prstGeom>
          <a:solidFill>
            <a:srgbClr val="F6EBDD"/>
          </a:solidFill>
          <a:ln/>
        </p:spPr>
      </p:sp>
      <p:sp>
        <p:nvSpPr>
          <p:cNvPr id="41" name="layer-37"/>
          <p:cNvSpPr/>
          <p:nvPr/>
        </p:nvSpPr>
        <p:spPr>
          <a:xfrm>
            <a:off x="6939296" y="1984248"/>
            <a:ext cx="128730" cy="429768"/>
          </a:xfrm>
          <a:prstGeom prst="roundRect">
            <a:avLst>
              <a:gd name="adj" fmla="val 21310"/>
            </a:avLst>
          </a:prstGeom>
          <a:solidFill>
            <a:srgbClr val="F6EBDD"/>
          </a:solidFill>
          <a:ln/>
        </p:spPr>
      </p:sp>
      <p:sp>
        <p:nvSpPr>
          <p:cNvPr id="42" name="layer-38"/>
          <p:cNvSpPr/>
          <p:nvPr/>
        </p:nvSpPr>
        <p:spPr>
          <a:xfrm>
            <a:off x="7104602" y="1984248"/>
            <a:ext cx="128730" cy="429768"/>
          </a:xfrm>
          <a:prstGeom prst="roundRect">
            <a:avLst>
              <a:gd name="adj" fmla="val 21310"/>
            </a:avLst>
          </a:prstGeom>
          <a:solidFill>
            <a:srgbClr val="F6EBDD"/>
          </a:solidFill>
          <a:ln/>
        </p:spPr>
      </p:sp>
      <p:sp>
        <p:nvSpPr>
          <p:cNvPr id="43" name="layer-39"/>
          <p:cNvSpPr/>
          <p:nvPr/>
        </p:nvSpPr>
        <p:spPr>
          <a:xfrm>
            <a:off x="7269909" y="1984248"/>
            <a:ext cx="128730" cy="429768"/>
          </a:xfrm>
          <a:prstGeom prst="roundRect">
            <a:avLst>
              <a:gd name="adj" fmla="val 21310"/>
            </a:avLst>
          </a:prstGeom>
          <a:solidFill>
            <a:srgbClr val="F6EBDD"/>
          </a:solidFill>
          <a:ln/>
        </p:spPr>
      </p:sp>
      <p:sp>
        <p:nvSpPr>
          <p:cNvPr id="44" name="layer-40"/>
          <p:cNvSpPr/>
          <p:nvPr/>
        </p:nvSpPr>
        <p:spPr>
          <a:xfrm>
            <a:off x="7435215" y="1984248"/>
            <a:ext cx="128730" cy="429768"/>
          </a:xfrm>
          <a:prstGeom prst="roundRect">
            <a:avLst>
              <a:gd name="adj" fmla="val 21310"/>
            </a:avLst>
          </a:prstGeom>
          <a:solidFill>
            <a:srgbClr val="F6EBDD"/>
          </a:solidFill>
          <a:ln/>
        </p:spPr>
      </p:sp>
      <p:sp>
        <p:nvSpPr>
          <p:cNvPr id="45" name="layer-41"/>
          <p:cNvSpPr/>
          <p:nvPr/>
        </p:nvSpPr>
        <p:spPr>
          <a:xfrm>
            <a:off x="7600521" y="1984248"/>
            <a:ext cx="128730" cy="429768"/>
          </a:xfrm>
          <a:prstGeom prst="roundRect">
            <a:avLst>
              <a:gd name="adj" fmla="val 21310"/>
            </a:avLst>
          </a:prstGeom>
          <a:solidFill>
            <a:srgbClr val="F6EBDD"/>
          </a:solidFill>
          <a:ln/>
        </p:spPr>
      </p:sp>
      <p:sp>
        <p:nvSpPr>
          <p:cNvPr id="46" name="layer-42"/>
          <p:cNvSpPr/>
          <p:nvPr/>
        </p:nvSpPr>
        <p:spPr>
          <a:xfrm>
            <a:off x="7765828" y="1984248"/>
            <a:ext cx="128730" cy="429768"/>
          </a:xfrm>
          <a:prstGeom prst="roundRect">
            <a:avLst>
              <a:gd name="adj" fmla="val 21310"/>
            </a:avLst>
          </a:prstGeom>
          <a:solidFill>
            <a:srgbClr val="F6EBDD"/>
          </a:solidFill>
          <a:ln/>
        </p:spPr>
      </p:sp>
      <p:sp>
        <p:nvSpPr>
          <p:cNvPr id="47" name="layer-43"/>
          <p:cNvSpPr/>
          <p:nvPr/>
        </p:nvSpPr>
        <p:spPr>
          <a:xfrm>
            <a:off x="7931134" y="1984248"/>
            <a:ext cx="128730" cy="429768"/>
          </a:xfrm>
          <a:prstGeom prst="roundRect">
            <a:avLst>
              <a:gd name="adj" fmla="val 21310"/>
            </a:avLst>
          </a:prstGeom>
          <a:solidFill>
            <a:srgbClr val="F6EBDD"/>
          </a:solidFill>
          <a:ln/>
        </p:spPr>
      </p:sp>
      <p:sp>
        <p:nvSpPr>
          <p:cNvPr id="48" name="layer-44"/>
          <p:cNvSpPr/>
          <p:nvPr/>
        </p:nvSpPr>
        <p:spPr>
          <a:xfrm>
            <a:off x="8096441" y="1984248"/>
            <a:ext cx="128730" cy="429768"/>
          </a:xfrm>
          <a:prstGeom prst="roundRect">
            <a:avLst>
              <a:gd name="adj" fmla="val 21310"/>
            </a:avLst>
          </a:prstGeom>
          <a:solidFill>
            <a:srgbClr val="F6EBDD"/>
          </a:solidFill>
          <a:ln/>
        </p:spPr>
      </p:sp>
      <p:sp>
        <p:nvSpPr>
          <p:cNvPr id="49" name="layer-45"/>
          <p:cNvSpPr/>
          <p:nvPr/>
        </p:nvSpPr>
        <p:spPr>
          <a:xfrm>
            <a:off x="8261747" y="1984248"/>
            <a:ext cx="128730" cy="429768"/>
          </a:xfrm>
          <a:prstGeom prst="roundRect">
            <a:avLst>
              <a:gd name="adj" fmla="val 21310"/>
            </a:avLst>
          </a:prstGeom>
          <a:solidFill>
            <a:srgbClr val="F6EBDD"/>
          </a:solidFill>
          <a:ln/>
        </p:spPr>
      </p:sp>
      <p:sp>
        <p:nvSpPr>
          <p:cNvPr id="50" name="layer-46"/>
          <p:cNvSpPr/>
          <p:nvPr/>
        </p:nvSpPr>
        <p:spPr>
          <a:xfrm>
            <a:off x="8427053" y="1984248"/>
            <a:ext cx="128730" cy="429768"/>
          </a:xfrm>
          <a:prstGeom prst="roundRect">
            <a:avLst>
              <a:gd name="adj" fmla="val 21310"/>
            </a:avLst>
          </a:prstGeom>
          <a:solidFill>
            <a:srgbClr val="F6EBDD"/>
          </a:solidFill>
          <a:ln/>
        </p:spPr>
      </p:sp>
      <p:sp>
        <p:nvSpPr>
          <p:cNvPr id="51" name="layer-47"/>
          <p:cNvSpPr/>
          <p:nvPr/>
        </p:nvSpPr>
        <p:spPr>
          <a:xfrm>
            <a:off x="8592360" y="1984248"/>
            <a:ext cx="128730" cy="429768"/>
          </a:xfrm>
          <a:prstGeom prst="roundRect">
            <a:avLst>
              <a:gd name="adj" fmla="val 21310"/>
            </a:avLst>
          </a:prstGeom>
          <a:solidFill>
            <a:srgbClr val="F6EBDD"/>
          </a:solidFill>
          <a:ln/>
        </p:spPr>
      </p:sp>
      <p:sp>
        <p:nvSpPr>
          <p:cNvPr id="52" name="layer-48"/>
          <p:cNvSpPr/>
          <p:nvPr/>
        </p:nvSpPr>
        <p:spPr>
          <a:xfrm>
            <a:off x="8757666" y="1984248"/>
            <a:ext cx="128730" cy="429768"/>
          </a:xfrm>
          <a:prstGeom prst="roundRect">
            <a:avLst>
              <a:gd name="adj" fmla="val 21310"/>
            </a:avLst>
          </a:prstGeom>
          <a:solidFill>
            <a:srgbClr val="F6EBDD"/>
          </a:solidFill>
          <a:ln/>
        </p:spPr>
      </p:sp>
      <p:sp>
        <p:nvSpPr>
          <p:cNvPr id="53" name="layer-49"/>
          <p:cNvSpPr/>
          <p:nvPr/>
        </p:nvSpPr>
        <p:spPr>
          <a:xfrm>
            <a:off x="8922972" y="1984248"/>
            <a:ext cx="128730" cy="429768"/>
          </a:xfrm>
          <a:prstGeom prst="roundRect">
            <a:avLst>
              <a:gd name="adj" fmla="val 21310"/>
            </a:avLst>
          </a:prstGeom>
          <a:solidFill>
            <a:srgbClr val="F6EBDD"/>
          </a:solidFill>
          <a:ln/>
        </p:spPr>
      </p:sp>
      <p:sp>
        <p:nvSpPr>
          <p:cNvPr id="54" name="layer-50"/>
          <p:cNvSpPr/>
          <p:nvPr/>
        </p:nvSpPr>
        <p:spPr>
          <a:xfrm>
            <a:off x="9088279" y="1984248"/>
            <a:ext cx="128730" cy="429768"/>
          </a:xfrm>
          <a:prstGeom prst="roundRect">
            <a:avLst>
              <a:gd name="adj" fmla="val 21310"/>
            </a:avLst>
          </a:prstGeom>
          <a:solidFill>
            <a:srgbClr val="F6EBDD"/>
          </a:solidFill>
          <a:ln/>
        </p:spPr>
      </p:sp>
      <p:sp>
        <p:nvSpPr>
          <p:cNvPr id="55" name="layer-51"/>
          <p:cNvSpPr/>
          <p:nvPr/>
        </p:nvSpPr>
        <p:spPr>
          <a:xfrm>
            <a:off x="9253585" y="1984248"/>
            <a:ext cx="128730" cy="429768"/>
          </a:xfrm>
          <a:prstGeom prst="roundRect">
            <a:avLst>
              <a:gd name="adj" fmla="val 21310"/>
            </a:avLst>
          </a:prstGeom>
          <a:solidFill>
            <a:srgbClr val="F6EBDD"/>
          </a:solidFill>
          <a:ln/>
        </p:spPr>
      </p:sp>
      <p:sp>
        <p:nvSpPr>
          <p:cNvPr id="56" name="layer-52"/>
          <p:cNvSpPr/>
          <p:nvPr/>
        </p:nvSpPr>
        <p:spPr>
          <a:xfrm>
            <a:off x="9418892" y="1984248"/>
            <a:ext cx="128730" cy="429768"/>
          </a:xfrm>
          <a:prstGeom prst="roundRect">
            <a:avLst>
              <a:gd name="adj" fmla="val 21310"/>
            </a:avLst>
          </a:prstGeom>
          <a:solidFill>
            <a:srgbClr val="F6EBDD"/>
          </a:solidFill>
          <a:ln/>
        </p:spPr>
      </p:sp>
      <p:sp>
        <p:nvSpPr>
          <p:cNvPr id="57" name="layer-53"/>
          <p:cNvSpPr/>
          <p:nvPr/>
        </p:nvSpPr>
        <p:spPr>
          <a:xfrm>
            <a:off x="9584198" y="1984248"/>
            <a:ext cx="128730" cy="429768"/>
          </a:xfrm>
          <a:prstGeom prst="roundRect">
            <a:avLst>
              <a:gd name="adj" fmla="val 21310"/>
            </a:avLst>
          </a:prstGeom>
          <a:solidFill>
            <a:srgbClr val="F6EBDD"/>
          </a:solidFill>
          <a:ln/>
        </p:spPr>
      </p:sp>
      <p:sp>
        <p:nvSpPr>
          <p:cNvPr id="58" name="layer-54"/>
          <p:cNvSpPr/>
          <p:nvPr/>
        </p:nvSpPr>
        <p:spPr>
          <a:xfrm>
            <a:off x="9749504" y="1984248"/>
            <a:ext cx="128730" cy="429768"/>
          </a:xfrm>
          <a:prstGeom prst="roundRect">
            <a:avLst>
              <a:gd name="adj" fmla="val 21310"/>
            </a:avLst>
          </a:prstGeom>
          <a:solidFill>
            <a:srgbClr val="F6EBDD"/>
          </a:solidFill>
          <a:ln/>
        </p:spPr>
      </p:sp>
      <p:sp>
        <p:nvSpPr>
          <p:cNvPr id="59" name="layer-55"/>
          <p:cNvSpPr/>
          <p:nvPr/>
        </p:nvSpPr>
        <p:spPr>
          <a:xfrm>
            <a:off x="9914811" y="1984248"/>
            <a:ext cx="128730" cy="429768"/>
          </a:xfrm>
          <a:prstGeom prst="roundRect">
            <a:avLst>
              <a:gd name="adj" fmla="val 21310"/>
            </a:avLst>
          </a:prstGeom>
          <a:solidFill>
            <a:srgbClr val="F6EBDD"/>
          </a:solidFill>
          <a:ln/>
        </p:spPr>
      </p:sp>
      <p:sp>
        <p:nvSpPr>
          <p:cNvPr id="60" name="layer-56"/>
          <p:cNvSpPr/>
          <p:nvPr/>
        </p:nvSpPr>
        <p:spPr>
          <a:xfrm>
            <a:off x="10080117" y="1984248"/>
            <a:ext cx="128730" cy="429768"/>
          </a:xfrm>
          <a:prstGeom prst="roundRect">
            <a:avLst>
              <a:gd name="adj" fmla="val 21310"/>
            </a:avLst>
          </a:prstGeom>
          <a:solidFill>
            <a:srgbClr val="F6EBDD"/>
          </a:solidFill>
          <a:ln/>
        </p:spPr>
      </p:sp>
      <p:sp>
        <p:nvSpPr>
          <p:cNvPr id="61" name="layer-57"/>
          <p:cNvSpPr/>
          <p:nvPr/>
        </p:nvSpPr>
        <p:spPr>
          <a:xfrm>
            <a:off x="10245423" y="1984248"/>
            <a:ext cx="128730" cy="429768"/>
          </a:xfrm>
          <a:prstGeom prst="roundRect">
            <a:avLst>
              <a:gd name="adj" fmla="val 21310"/>
            </a:avLst>
          </a:prstGeom>
          <a:solidFill>
            <a:srgbClr val="F6EBDD"/>
          </a:solidFill>
          <a:ln/>
        </p:spPr>
      </p:sp>
      <p:sp>
        <p:nvSpPr>
          <p:cNvPr id="62" name="layer-58"/>
          <p:cNvSpPr/>
          <p:nvPr/>
        </p:nvSpPr>
        <p:spPr>
          <a:xfrm>
            <a:off x="10410730" y="1984248"/>
            <a:ext cx="128730" cy="429768"/>
          </a:xfrm>
          <a:prstGeom prst="roundRect">
            <a:avLst>
              <a:gd name="adj" fmla="val 21310"/>
            </a:avLst>
          </a:prstGeom>
          <a:solidFill>
            <a:srgbClr val="F6EBDD"/>
          </a:solidFill>
          <a:ln/>
        </p:spPr>
      </p:sp>
      <p:sp>
        <p:nvSpPr>
          <p:cNvPr id="63" name="layer-59"/>
          <p:cNvSpPr/>
          <p:nvPr/>
        </p:nvSpPr>
        <p:spPr>
          <a:xfrm>
            <a:off x="10576036" y="1984248"/>
            <a:ext cx="128730" cy="429768"/>
          </a:xfrm>
          <a:prstGeom prst="roundRect">
            <a:avLst>
              <a:gd name="adj" fmla="val 21310"/>
            </a:avLst>
          </a:prstGeom>
          <a:solidFill>
            <a:srgbClr val="F6EBDD"/>
          </a:solidFill>
          <a:ln/>
        </p:spPr>
      </p:sp>
      <p:sp>
        <p:nvSpPr>
          <p:cNvPr id="64" name="layer-60"/>
          <p:cNvSpPr/>
          <p:nvPr/>
        </p:nvSpPr>
        <p:spPr>
          <a:xfrm>
            <a:off x="10741343" y="1984248"/>
            <a:ext cx="128730" cy="429768"/>
          </a:xfrm>
          <a:prstGeom prst="roundRect">
            <a:avLst>
              <a:gd name="adj" fmla="val 21310"/>
            </a:avLst>
          </a:prstGeom>
          <a:solidFill>
            <a:srgbClr val="F6EBDD"/>
          </a:solidFill>
          <a:ln/>
        </p:spPr>
      </p:sp>
      <p:sp>
        <p:nvSpPr>
          <p:cNvPr id="65" name="layer-61"/>
          <p:cNvSpPr/>
          <p:nvPr/>
        </p:nvSpPr>
        <p:spPr>
          <a:xfrm>
            <a:off x="10906649" y="1984248"/>
            <a:ext cx="128730" cy="429768"/>
          </a:xfrm>
          <a:prstGeom prst="roundRect">
            <a:avLst>
              <a:gd name="adj" fmla="val 21310"/>
            </a:avLst>
          </a:prstGeom>
          <a:solidFill>
            <a:srgbClr val="F6EBDD"/>
          </a:solidFill>
          <a:ln/>
        </p:spPr>
      </p:sp>
      <p:sp>
        <p:nvSpPr>
          <p:cNvPr id="66" name="layer-62"/>
          <p:cNvSpPr/>
          <p:nvPr/>
        </p:nvSpPr>
        <p:spPr>
          <a:xfrm>
            <a:off x="11071955" y="1984248"/>
            <a:ext cx="128730" cy="429768"/>
          </a:xfrm>
          <a:prstGeom prst="roundRect">
            <a:avLst>
              <a:gd name="adj" fmla="val 21310"/>
            </a:avLst>
          </a:prstGeom>
          <a:solidFill>
            <a:srgbClr val="F6EBDD"/>
          </a:solidFill>
          <a:ln/>
        </p:spPr>
      </p:sp>
      <p:sp>
        <p:nvSpPr>
          <p:cNvPr id="67" name="layer-63"/>
          <p:cNvSpPr/>
          <p:nvPr/>
        </p:nvSpPr>
        <p:spPr>
          <a:xfrm>
            <a:off x="11237262" y="1984248"/>
            <a:ext cx="128730" cy="429768"/>
          </a:xfrm>
          <a:prstGeom prst="roundRect">
            <a:avLst>
              <a:gd name="adj" fmla="val 21310"/>
            </a:avLst>
          </a:prstGeom>
          <a:solidFill>
            <a:srgbClr val="F6EBDD"/>
          </a:solidFill>
          <a:ln/>
        </p:spPr>
      </p:sp>
      <p:sp>
        <p:nvSpPr>
          <p:cNvPr id="68" name="text-13"/>
          <p:cNvSpPr txBox="1"/>
          <p:nvPr/>
        </p:nvSpPr>
        <p:spPr>
          <a:xfrm>
            <a:off x="822960" y="2542032"/>
            <a:ext cx="1828800" cy="274320"/>
          </a:xfrm>
          <a:prstGeom prst="rect">
            <a:avLst/>
          </a:prstGeom>
          <a:noFill/>
          <a:ln/>
        </p:spPr>
        <p:txBody>
          <a:bodyPr wrap="square" lIns="0" tIns="0" rIns="0" bIns="0" rtlCol="0" anchor="t"/>
          <a:lstStyle/>
          <a:p>
            <a:pPr indent="0" marL="0">
              <a:buNone/>
            </a:pPr>
            <a:r>
              <a:rPr lang="en-US" sz="1100" dirty="0">
                <a:solidFill>
                  <a:srgbClr val="E8D6C2"/>
                </a:solidFill>
                <a:latin typeface="Consolas" pitchFamily="34" charset="0"/>
                <a:ea typeface="Consolas" pitchFamily="34" charset="-122"/>
                <a:cs typeface="Consolas" pitchFamily="34" charset="-120"/>
              </a:rPr>
              <a:t>layer 0</a:t>
            </a:r>
            <a:endParaRPr lang="en-US" sz="1100" dirty="0"/>
          </a:p>
        </p:txBody>
      </p:sp>
      <p:sp>
        <p:nvSpPr>
          <p:cNvPr id="69" name="text-14"/>
          <p:cNvSpPr txBox="1"/>
          <p:nvPr/>
        </p:nvSpPr>
        <p:spPr>
          <a:xfrm>
            <a:off x="9537192" y="2542032"/>
            <a:ext cx="1828800" cy="274320"/>
          </a:xfrm>
          <a:prstGeom prst="rect">
            <a:avLst/>
          </a:prstGeom>
          <a:noFill/>
          <a:ln/>
        </p:spPr>
        <p:txBody>
          <a:bodyPr wrap="square" lIns="0" tIns="0" rIns="0" bIns="0" rtlCol="0" anchor="t"/>
          <a:lstStyle/>
          <a:p>
            <a:pPr algn="r" indent="0" marL="0">
              <a:buNone/>
            </a:pPr>
            <a:r>
              <a:rPr lang="en-US" sz="1100" dirty="0">
                <a:solidFill>
                  <a:srgbClr val="E8D6C2"/>
                </a:solidFill>
                <a:latin typeface="Consolas" pitchFamily="34" charset="0"/>
                <a:ea typeface="Consolas" pitchFamily="34" charset="-122"/>
                <a:cs typeface="Consolas" pitchFamily="34" charset="-120"/>
              </a:rPr>
              <a:t>layer 63</a:t>
            </a:r>
            <a:endParaRPr lang="en-US" sz="1100" dirty="0"/>
          </a:p>
        </p:txBody>
      </p:sp>
      <p:sp>
        <p:nvSpPr>
          <p:cNvPr id="70" name="card-15"/>
          <p:cNvSpPr/>
          <p:nvPr/>
        </p:nvSpPr>
        <p:spPr>
          <a:xfrm>
            <a:off x="822960" y="3127248"/>
            <a:ext cx="4233672" cy="1481328"/>
          </a:xfrm>
          <a:prstGeom prst="roundRect">
            <a:avLst>
              <a:gd name="adj" fmla="val 7407"/>
            </a:avLst>
          </a:prstGeom>
          <a:solidFill>
            <a:schemeClr val="accent5"/>
          </a:solidFill>
          <a:ln/>
        </p:spPr>
      </p:sp>
      <p:sp>
        <p:nvSpPr>
          <p:cNvPr id="71" name="layer-key-16"/>
          <p:cNvSpPr/>
          <p:nvPr/>
        </p:nvSpPr>
        <p:spPr>
          <a:xfrm>
            <a:off x="932688" y="3127248"/>
            <a:ext cx="4014216" cy="54864"/>
          </a:xfrm>
          <a:prstGeom prst="rect">
            <a:avLst/>
          </a:prstGeom>
          <a:solidFill>
            <a:schemeClr val="accent2"/>
          </a:solidFill>
          <a:ln/>
        </p:spPr>
      </p:sp>
      <p:sp>
        <p:nvSpPr>
          <p:cNvPr id="72" name="text-17"/>
          <p:cNvSpPr txBox="1"/>
          <p:nvPr/>
        </p:nvSpPr>
        <p:spPr>
          <a:xfrm>
            <a:off x="1097280" y="3364992"/>
            <a:ext cx="3749040" cy="384048"/>
          </a:xfrm>
          <a:prstGeom prst="rect">
            <a:avLst/>
          </a:prstGeom>
          <a:noFill/>
          <a:ln/>
        </p:spPr>
        <p:txBody>
          <a:bodyPr wrap="square" lIns="0" tIns="0" rIns="0" bIns="0" rtlCol="0" anchor="t"/>
          <a:lstStyle/>
          <a:p>
            <a:pPr indent="0" marL="0">
              <a:buNone/>
            </a:pPr>
            <a:r>
              <a:rPr lang="en-US" sz="2100" dirty="0">
                <a:solidFill>
                  <a:schemeClr val="bg1"/>
                </a:solidFill>
                <a:latin typeface="Trebuchet MS" pitchFamily="34" charset="0"/>
                <a:ea typeface="Trebuchet MS" pitchFamily="34" charset="-122"/>
                <a:cs typeface="Trebuchet MS" pitchFamily="34" charset="-120"/>
              </a:rPr>
              <a:t>M1 Air · layers 0–31</a:t>
            </a:r>
            <a:endParaRPr lang="en-US" sz="2100" dirty="0"/>
          </a:p>
        </p:txBody>
      </p:sp>
      <p:sp>
        <p:nvSpPr>
          <p:cNvPr id="73" name="text-18"/>
          <p:cNvSpPr txBox="1"/>
          <p:nvPr/>
        </p:nvSpPr>
        <p:spPr>
          <a:xfrm>
            <a:off x="1097280" y="3840480"/>
            <a:ext cx="3749040" cy="640080"/>
          </a:xfrm>
          <a:prstGeom prst="rect">
            <a:avLst/>
          </a:prstGeom>
          <a:noFill/>
          <a:ln/>
        </p:spPr>
        <p:txBody>
          <a:bodyPr wrap="square" lIns="0" tIns="0" rIns="0" bIns="0" rtlCol="0" anchor="t"/>
          <a:lstStyle/>
          <a:p>
            <a:pPr indent="0" marL="0">
              <a:buNone/>
            </a:pPr>
            <a:r>
              <a:rPr lang="en-US" sz="1400" dirty="0">
                <a:solidFill>
                  <a:srgbClr val="E8D6C2"/>
                </a:solidFill>
                <a:latin typeface="Arial" pitchFamily="34" charset="0"/>
                <a:ea typeface="Arial" pitchFamily="34" charset="-122"/>
                <a:cs typeface="Arial" pitchFamily="34" charset="-120"/>
              </a:rPr>
              <a:t>Loads only its half of the weights and turns tokens into hidden states.</a:t>
            </a:r>
            <a:endParaRPr lang="en-US" sz="1400" dirty="0"/>
          </a:p>
        </p:txBody>
      </p:sp>
      <p:sp>
        <p:nvSpPr>
          <p:cNvPr id="74" name="card-19"/>
          <p:cNvSpPr/>
          <p:nvPr/>
        </p:nvSpPr>
        <p:spPr>
          <a:xfrm>
            <a:off x="7132320" y="3127248"/>
            <a:ext cx="4233672" cy="1481328"/>
          </a:xfrm>
          <a:prstGeom prst="roundRect">
            <a:avLst>
              <a:gd name="adj" fmla="val 7407"/>
            </a:avLst>
          </a:prstGeom>
          <a:solidFill>
            <a:schemeClr val="accent5"/>
          </a:solidFill>
          <a:ln/>
        </p:spPr>
      </p:sp>
      <p:sp>
        <p:nvSpPr>
          <p:cNvPr id="75" name="layer-key-20"/>
          <p:cNvSpPr/>
          <p:nvPr/>
        </p:nvSpPr>
        <p:spPr>
          <a:xfrm>
            <a:off x="7242048" y="3127248"/>
            <a:ext cx="4014216" cy="54864"/>
          </a:xfrm>
          <a:prstGeom prst="rect">
            <a:avLst/>
          </a:prstGeom>
          <a:solidFill>
            <a:srgbClr val="F6EBDD"/>
          </a:solidFill>
          <a:ln/>
        </p:spPr>
      </p:sp>
      <p:sp>
        <p:nvSpPr>
          <p:cNvPr id="76" name="text-21"/>
          <p:cNvSpPr txBox="1"/>
          <p:nvPr/>
        </p:nvSpPr>
        <p:spPr>
          <a:xfrm>
            <a:off x="7406640" y="3364992"/>
            <a:ext cx="3749040" cy="384048"/>
          </a:xfrm>
          <a:prstGeom prst="rect">
            <a:avLst/>
          </a:prstGeom>
          <a:noFill/>
          <a:ln/>
        </p:spPr>
        <p:txBody>
          <a:bodyPr wrap="square" lIns="0" tIns="0" rIns="0" bIns="0" rtlCol="0" anchor="t"/>
          <a:lstStyle/>
          <a:p>
            <a:pPr indent="0" marL="0">
              <a:buNone/>
            </a:pPr>
            <a:r>
              <a:rPr lang="en-US" sz="2100" dirty="0">
                <a:solidFill>
                  <a:schemeClr val="bg1"/>
                </a:solidFill>
                <a:latin typeface="Trebuchet MS" pitchFamily="34" charset="0"/>
                <a:ea typeface="Trebuchet MS" pitchFamily="34" charset="-122"/>
                <a:cs typeface="Trebuchet MS" pitchFamily="34" charset="-120"/>
              </a:rPr>
              <a:t>M2 Pro · layers 32–63</a:t>
            </a:r>
            <a:endParaRPr lang="en-US" sz="2100" dirty="0"/>
          </a:p>
        </p:txBody>
      </p:sp>
      <p:sp>
        <p:nvSpPr>
          <p:cNvPr id="77" name="text-22"/>
          <p:cNvSpPr txBox="1"/>
          <p:nvPr/>
        </p:nvSpPr>
        <p:spPr>
          <a:xfrm>
            <a:off x="7406640" y="3840480"/>
            <a:ext cx="3749040" cy="640080"/>
          </a:xfrm>
          <a:prstGeom prst="rect">
            <a:avLst/>
          </a:prstGeom>
          <a:noFill/>
          <a:ln/>
        </p:spPr>
        <p:txBody>
          <a:bodyPr wrap="square" lIns="0" tIns="0" rIns="0" bIns="0" rtlCol="0" anchor="t"/>
          <a:lstStyle/>
          <a:p>
            <a:pPr indent="0" marL="0">
              <a:buNone/>
            </a:pPr>
            <a:r>
              <a:rPr lang="en-US" sz="1400" dirty="0">
                <a:solidFill>
                  <a:srgbClr val="E8D6C2"/>
                </a:solidFill>
                <a:latin typeface="Arial" pitchFamily="34" charset="0"/>
                <a:ea typeface="Arial" pitchFamily="34" charset="-122"/>
                <a:cs typeface="Arial" pitchFamily="34" charset="-120"/>
              </a:rPr>
              <a:t>Finishes the pass, picks the next token and streams the reply.</a:t>
            </a:r>
            <a:endParaRPr lang="en-US" sz="1400" dirty="0"/>
          </a:p>
        </p:txBody>
      </p:sp>
      <p:sp>
        <p:nvSpPr>
          <p:cNvPr id="78" name="text-23"/>
          <p:cNvSpPr txBox="1"/>
          <p:nvPr/>
        </p:nvSpPr>
        <p:spPr>
          <a:xfrm>
            <a:off x="5239512" y="3493008"/>
            <a:ext cx="1709928" cy="274320"/>
          </a:xfrm>
          <a:prstGeom prst="rect">
            <a:avLst/>
          </a:prstGeom>
          <a:noFill/>
          <a:ln/>
        </p:spPr>
        <p:txBody>
          <a:bodyPr wrap="square" lIns="0" tIns="0" rIns="0" bIns="0" rtlCol="0" anchor="t"/>
          <a:lstStyle/>
          <a:p>
            <a:pPr algn="ctr" indent="0" marL="0">
              <a:buNone/>
            </a:pPr>
            <a:r>
              <a:rPr lang="en-US" sz="1200" dirty="0">
                <a:solidFill>
                  <a:schemeClr val="accent3"/>
                </a:solidFill>
                <a:latin typeface="Consolas" pitchFamily="34" charset="0"/>
                <a:ea typeface="Consolas" pitchFamily="34" charset="-122"/>
                <a:cs typeface="Consolas" pitchFamily="34" charset="-120"/>
              </a:rPr>
              <a:t>20 KB / token</a:t>
            </a:r>
            <a:endParaRPr lang="en-US" sz="1200" dirty="0"/>
          </a:p>
        </p:txBody>
      </p:sp>
      <p:sp>
        <p:nvSpPr>
          <p:cNvPr id="79" name="arrow-24"/>
          <p:cNvSpPr/>
          <p:nvPr/>
        </p:nvSpPr>
        <p:spPr>
          <a:xfrm>
            <a:off x="5394960" y="3858768"/>
            <a:ext cx="1399032" cy="0"/>
          </a:xfrm>
          <a:prstGeom prst="line">
            <a:avLst/>
          </a:prstGeom>
          <a:noFill/>
          <a:ln w="38100">
            <a:solidFill>
              <a:schemeClr val="accent3"/>
            </a:solidFill>
            <a:prstDash val="solid"/>
            <a:headEnd type="triangle"/>
            <a:tailEnd type="triangle"/>
          </a:ln>
        </p:spPr>
      </p:sp>
      <p:sp>
        <p:nvSpPr>
          <p:cNvPr id="80" name="text-25"/>
          <p:cNvSpPr txBox="1"/>
          <p:nvPr/>
        </p:nvSpPr>
        <p:spPr>
          <a:xfrm>
            <a:off x="5239512" y="3986784"/>
            <a:ext cx="1709928" cy="274320"/>
          </a:xfrm>
          <a:prstGeom prst="rect">
            <a:avLst/>
          </a:prstGeom>
          <a:noFill/>
          <a:ln/>
        </p:spPr>
        <p:txBody>
          <a:bodyPr wrap="square" lIns="0" tIns="0" rIns="0" bIns="0" rtlCol="0" anchor="t"/>
          <a:lstStyle/>
          <a:p>
            <a:pPr algn="ctr" indent="0" marL="0">
              <a:buNone/>
            </a:pPr>
            <a:r>
              <a:rPr lang="en-US" sz="1200" dirty="0">
                <a:solidFill>
                  <a:srgbClr val="E8D6C2"/>
                </a:solidFill>
                <a:latin typeface="Arial" pitchFamily="34" charset="0"/>
                <a:ea typeface="Arial" pitchFamily="34" charset="-122"/>
                <a:cs typeface="Arial" pitchFamily="34" charset="-120"/>
              </a:rPr>
              <a:t>over Iroh</a:t>
            </a:r>
            <a:endParaRPr lang="en-US" sz="12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Arial" pitchFamily="34" charset="0"/>
                <a:ea typeface="Arial" pitchFamily="34" charset="-122"/>
                <a:cs typeface="Arial" pitchFamily="34" charset="-120"/>
              </a:rPr>
              <a:t>ARCHITECTURE</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tx1"/>
                </a:solidFill>
                <a:latin typeface="Trebuchet MS" pitchFamily="34" charset="0"/>
                <a:ea typeface="Trebuchet MS" pitchFamily="34" charset="-122"/>
                <a:cs typeface="Trebuchet MS" pitchFamily="34" charset="-120"/>
              </a:rPr>
              <a:t>One leader, many workers, two backends</a:t>
            </a:r>
            <a:endParaRPr lang="en-US" sz="3300" dirty="0"/>
          </a:p>
        </p:txBody>
      </p:sp>
      <p:sp>
        <p:nvSpPr>
          <p:cNvPr id="4" name="card-26"/>
          <p:cNvSpPr/>
          <p:nvPr/>
        </p:nvSpPr>
        <p:spPr>
          <a:xfrm>
            <a:off x="822960" y="1947672"/>
            <a:ext cx="2395728" cy="2057400"/>
          </a:xfrm>
          <a:prstGeom prst="roundRect">
            <a:avLst>
              <a:gd name="adj" fmla="val 5333"/>
            </a:avLst>
          </a:prstGeom>
          <a:solidFill>
            <a:srgbClr val="FFFDF8"/>
          </a:solidFill>
          <a:ln w="12700">
            <a:solidFill>
              <a:srgbClr val="EFE6D8"/>
            </a:solidFill>
            <a:prstDash val="solid"/>
          </a:ln>
        </p:spPr>
      </p:sp>
      <p:sp>
        <p:nvSpPr>
          <p:cNvPr id="5" name="text-27"/>
          <p:cNvSpPr txBox="1"/>
          <p:nvPr/>
        </p:nvSpPr>
        <p:spPr>
          <a:xfrm>
            <a:off x="1051560" y="2176272"/>
            <a:ext cx="2011680" cy="256032"/>
          </a:xfrm>
          <a:prstGeom prst="rect">
            <a:avLst/>
          </a:prstGeom>
          <a:noFill/>
          <a:ln/>
        </p:spPr>
        <p:txBody>
          <a:bodyPr wrap="square" lIns="0" tIns="0" rIns="0" bIns="0" rtlCol="0" anchor="t"/>
          <a:lstStyle/>
          <a:p>
            <a:pPr indent="0" marL="0">
              <a:buNone/>
            </a:pPr>
            <a:r>
              <a:rPr lang="en-US" sz="1200" b="1" spc="100" kern="0" dirty="0">
                <a:solidFill>
                  <a:schemeClr val="accent1"/>
                </a:solidFill>
                <a:latin typeface="Arial" pitchFamily="34" charset="0"/>
                <a:ea typeface="Arial" pitchFamily="34" charset="-122"/>
                <a:cs typeface="Arial" pitchFamily="34" charset="-120"/>
              </a:rPr>
              <a:t>CLIENT</a:t>
            </a:r>
            <a:endParaRPr lang="en-US" sz="1200" dirty="0"/>
          </a:p>
        </p:txBody>
      </p:sp>
      <p:sp>
        <p:nvSpPr>
          <p:cNvPr id="6" name="text-28"/>
          <p:cNvSpPr txBox="1"/>
          <p:nvPr/>
        </p:nvSpPr>
        <p:spPr>
          <a:xfrm>
            <a:off x="1051560" y="2487168"/>
            <a:ext cx="2011680" cy="566928"/>
          </a:xfrm>
          <a:prstGeom prst="rect">
            <a:avLst/>
          </a:prstGeom>
          <a:noFill/>
          <a:ln/>
        </p:spPr>
        <p:txBody>
          <a:bodyPr wrap="square" lIns="0" tIns="0" rIns="0" bIns="0" rtlCol="0" anchor="t"/>
          <a:lstStyle/>
          <a:p>
            <a:pPr indent="0" marL="0">
              <a:buNone/>
            </a:pPr>
            <a:r>
              <a:rPr lang="en-US" sz="1800" dirty="0">
                <a:solidFill>
                  <a:schemeClr val="tx1"/>
                </a:solidFill>
                <a:latin typeface="Trebuchet MS" pitchFamily="34" charset="0"/>
                <a:ea typeface="Trebuchet MS" pitchFamily="34" charset="-122"/>
                <a:cs typeface="Trebuchet MS" pitchFamily="34" charset="-120"/>
              </a:rPr>
              <a:t>Dashboard, chat or CLI</a:t>
            </a:r>
            <a:endParaRPr lang="en-US" sz="1800" dirty="0"/>
          </a:p>
        </p:txBody>
      </p:sp>
      <p:sp>
        <p:nvSpPr>
          <p:cNvPr id="7" name="text-29"/>
          <p:cNvSpPr txBox="1"/>
          <p:nvPr/>
        </p:nvSpPr>
        <p:spPr>
          <a:xfrm>
            <a:off x="1051560" y="3127248"/>
            <a:ext cx="2011680" cy="77724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Shows devices, the layer map and queued, running and finished jobs.</a:t>
            </a:r>
            <a:endParaRPr lang="en-US" sz="1200" dirty="0"/>
          </a:p>
        </p:txBody>
      </p:sp>
      <p:sp>
        <p:nvSpPr>
          <p:cNvPr id="8" name="arrow-30"/>
          <p:cNvSpPr/>
          <p:nvPr/>
        </p:nvSpPr>
        <p:spPr>
          <a:xfrm>
            <a:off x="3364992" y="2971800"/>
            <a:ext cx="384048" cy="0"/>
          </a:xfrm>
          <a:prstGeom prst="line">
            <a:avLst/>
          </a:prstGeom>
          <a:noFill/>
          <a:ln w="38100">
            <a:solidFill>
              <a:schemeClr val="accent1"/>
            </a:solidFill>
            <a:prstDash val="solid"/>
            <a:tailEnd type="triangle"/>
          </a:ln>
        </p:spPr>
      </p:sp>
      <p:sp>
        <p:nvSpPr>
          <p:cNvPr id="9" name="card-31"/>
          <p:cNvSpPr/>
          <p:nvPr/>
        </p:nvSpPr>
        <p:spPr>
          <a:xfrm>
            <a:off x="3904488" y="1947672"/>
            <a:ext cx="4142232" cy="2057400"/>
          </a:xfrm>
          <a:prstGeom prst="roundRect">
            <a:avLst>
              <a:gd name="adj" fmla="val 5333"/>
            </a:avLst>
          </a:prstGeom>
          <a:solidFill>
            <a:schemeClr val="tx2"/>
          </a:solidFill>
          <a:ln/>
        </p:spPr>
      </p:sp>
      <p:sp>
        <p:nvSpPr>
          <p:cNvPr id="10" name="text-32"/>
          <p:cNvSpPr txBox="1"/>
          <p:nvPr/>
        </p:nvSpPr>
        <p:spPr>
          <a:xfrm>
            <a:off x="4160520" y="2176272"/>
            <a:ext cx="3657600" cy="256032"/>
          </a:xfrm>
          <a:prstGeom prst="rect">
            <a:avLst/>
          </a:prstGeom>
          <a:noFill/>
          <a:ln/>
        </p:spPr>
        <p:txBody>
          <a:bodyPr wrap="square" lIns="0" tIns="0" rIns="0" bIns="0" rtlCol="0" anchor="t"/>
          <a:lstStyle/>
          <a:p>
            <a:pPr indent="0" marL="0">
              <a:buNone/>
            </a:pPr>
            <a:r>
              <a:rPr lang="en-US" sz="1200" b="1" spc="100" kern="0" dirty="0">
                <a:solidFill>
                  <a:schemeClr val="accent3"/>
                </a:solidFill>
                <a:latin typeface="Arial" pitchFamily="34" charset="0"/>
                <a:ea typeface="Arial" pitchFamily="34" charset="-122"/>
                <a:cs typeface="Arial" pitchFamily="34" charset="-120"/>
              </a:rPr>
              <a:t>LEADER</a:t>
            </a:r>
            <a:endParaRPr lang="en-US" sz="1200" dirty="0"/>
          </a:p>
        </p:txBody>
      </p:sp>
      <p:sp>
        <p:nvSpPr>
          <p:cNvPr id="11" name="text-33"/>
          <p:cNvSpPr txBox="1"/>
          <p:nvPr/>
        </p:nvSpPr>
        <p:spPr>
          <a:xfrm>
            <a:off x="4160520" y="2487168"/>
            <a:ext cx="3657600" cy="365760"/>
          </a:xfrm>
          <a:prstGeom prst="rect">
            <a:avLst/>
          </a:prstGeom>
          <a:noFill/>
          <a:ln/>
        </p:spPr>
        <p:txBody>
          <a:bodyPr wrap="square" lIns="0" tIns="0" rIns="0" bIns="0" rtlCol="0" anchor="t"/>
          <a:lstStyle/>
          <a:p>
            <a:pPr indent="0" marL="0">
              <a:buNone/>
            </a:pPr>
            <a:r>
              <a:rPr lang="en-US" sz="1800" dirty="0">
                <a:solidFill>
                  <a:schemeClr val="bg1"/>
                </a:solidFill>
                <a:latin typeface="Trebuchet MS" pitchFamily="34" charset="0"/>
                <a:ea typeface="Trebuchet MS" pitchFamily="34" charset="-122"/>
                <a:cs typeface="Trebuchet MS" pitchFamily="34" charset="-120"/>
              </a:rPr>
              <a:t>Job API, queue, history</a:t>
            </a:r>
            <a:endParaRPr lang="en-US" sz="1800" dirty="0"/>
          </a:p>
        </p:txBody>
      </p:sp>
      <p:sp>
        <p:nvSpPr>
          <p:cNvPr id="12" name="text-34"/>
          <p:cNvSpPr txBox="1"/>
          <p:nvPr/>
        </p:nvSpPr>
        <p:spPr>
          <a:xfrm>
            <a:off x="4160520" y="2926080"/>
            <a:ext cx="3657600" cy="960120"/>
          </a:xfrm>
          <a:prstGeom prst="rect">
            <a:avLst/>
          </a:prstGeom>
          <a:noFill/>
          <a:ln/>
        </p:spPr>
        <p:txBody>
          <a:bodyPr wrap="square" lIns="0" tIns="0" rIns="0" bIns="0" rtlCol="0" anchor="t"/>
          <a:lstStyle/>
          <a:p>
            <a:pPr indent="0" marL="0">
              <a:spcAft>
                <a:spcPts val="600"/>
              </a:spcAft>
              <a:buNone/>
            </a:pPr>
            <a:r>
              <a:rPr lang="en-US" sz="1200" b="1" dirty="0">
                <a:solidFill>
                  <a:schemeClr val="bg1"/>
                </a:solidFill>
                <a:latin typeface="Arial" pitchFamily="34" charset="0"/>
                <a:ea typeface="Arial" pitchFamily="34" charset="-122"/>
                <a:cs typeface="Arial" pitchFamily="34" charset="-120"/>
              </a:rPr>
              <a:t>llama: </a:t>
            </a:r>
            <a:pPr indent="0" marL="0">
              <a:spcAft>
                <a:spcPts val="600"/>
              </a:spcAft>
              <a:buNone/>
            </a:pPr>
            <a:r>
              <a:rPr lang="en-US" sz="1200" dirty="0">
                <a:solidFill>
                  <a:srgbClr val="E8D6C2"/>
                </a:solidFill>
                <a:latin typeface="Arial" pitchFamily="34" charset="0"/>
                <a:ea typeface="Arial" pitchFamily="34" charset="-122"/>
                <a:cs typeface="Arial" pitchFamily="34" charset="-120"/>
              </a:rPr>
              <a:t>llama-server over ggml RPC bridges, from a placement plan</a:t>
            </a:r>
            <a:endParaRPr lang="en-US" sz="1200" dirty="0"/>
          </a:p>
          <a:p>
            <a:pPr indent="0" marL="0">
              <a:spcAft>
                <a:spcPts val="600"/>
              </a:spcAft>
              <a:buNone/>
            </a:pPr>
            <a:r>
              <a:rPr lang="en-US" sz="1200" b="1" dirty="0">
                <a:solidFill>
                  <a:schemeClr val="bg1"/>
                </a:solidFill>
                <a:latin typeface="Arial" pitchFamily="34" charset="0"/>
                <a:ea typeface="Arial" pitchFamily="34" charset="-122"/>
                <a:cs typeface="Arial" pitchFamily="34" charset="-120"/>
              </a:rPr>
              <a:t>shard: </a:t>
            </a:r>
            <a:pPr indent="0" marL="0">
              <a:spcAft>
                <a:spcPts val="600"/>
              </a:spcAft>
              <a:buNone/>
            </a:pPr>
            <a:r>
              <a:rPr lang="en-US" sz="1200" dirty="0">
                <a:solidFill>
                  <a:srgbClr val="E8D6C2"/>
                </a:solidFill>
                <a:latin typeface="Arial" pitchFamily="34" charset="0"/>
                <a:ea typeface="Arial" pitchFamily="34" charset="-122"/>
                <a:cs typeface="Arial" pitchFamily="34" charset="-120"/>
              </a:rPr>
              <a:t>in-process front end that dials layer-range workers</a:t>
            </a:r>
            <a:endParaRPr lang="en-US" sz="1200" dirty="0"/>
          </a:p>
        </p:txBody>
      </p:sp>
      <p:sp>
        <p:nvSpPr>
          <p:cNvPr id="13" name="arrow-35"/>
          <p:cNvSpPr/>
          <p:nvPr/>
        </p:nvSpPr>
        <p:spPr>
          <a:xfrm>
            <a:off x="8202168" y="2971800"/>
            <a:ext cx="384048" cy="0"/>
          </a:xfrm>
          <a:prstGeom prst="line">
            <a:avLst/>
          </a:prstGeom>
          <a:noFill/>
          <a:ln w="38100">
            <a:solidFill>
              <a:schemeClr val="accent1"/>
            </a:solidFill>
            <a:prstDash val="solid"/>
            <a:tailEnd type="triangle"/>
          </a:ln>
        </p:spPr>
      </p:sp>
      <p:sp>
        <p:nvSpPr>
          <p:cNvPr id="14" name="card-36"/>
          <p:cNvSpPr/>
          <p:nvPr/>
        </p:nvSpPr>
        <p:spPr>
          <a:xfrm>
            <a:off x="8714232" y="1947672"/>
            <a:ext cx="2651760" cy="2057400"/>
          </a:xfrm>
          <a:prstGeom prst="roundRect">
            <a:avLst>
              <a:gd name="adj" fmla="val 5333"/>
            </a:avLst>
          </a:prstGeom>
          <a:solidFill>
            <a:srgbClr val="FFFDF8"/>
          </a:solidFill>
          <a:ln w="12700">
            <a:solidFill>
              <a:srgbClr val="EFE6D8"/>
            </a:solidFill>
            <a:prstDash val="solid"/>
          </a:ln>
        </p:spPr>
      </p:sp>
      <p:sp>
        <p:nvSpPr>
          <p:cNvPr id="15" name="text-37"/>
          <p:cNvSpPr txBox="1"/>
          <p:nvPr/>
        </p:nvSpPr>
        <p:spPr>
          <a:xfrm>
            <a:off x="8942832" y="2176272"/>
            <a:ext cx="2286000" cy="256032"/>
          </a:xfrm>
          <a:prstGeom prst="rect">
            <a:avLst/>
          </a:prstGeom>
          <a:noFill/>
          <a:ln/>
        </p:spPr>
        <p:txBody>
          <a:bodyPr wrap="square" lIns="0" tIns="0" rIns="0" bIns="0" rtlCol="0" anchor="t"/>
          <a:lstStyle/>
          <a:p>
            <a:pPr indent="0" marL="0">
              <a:buNone/>
            </a:pPr>
            <a:r>
              <a:rPr lang="en-US" sz="1200" b="1" spc="100" kern="0" dirty="0">
                <a:solidFill>
                  <a:schemeClr val="accent1"/>
                </a:solidFill>
                <a:latin typeface="Arial" pitchFamily="34" charset="0"/>
                <a:ea typeface="Arial" pitchFamily="34" charset="-122"/>
                <a:cs typeface="Arial" pitchFamily="34" charset="-120"/>
              </a:rPr>
              <a:t>WORKERS</a:t>
            </a:r>
            <a:endParaRPr lang="en-US" sz="1200" dirty="0"/>
          </a:p>
        </p:txBody>
      </p:sp>
      <p:sp>
        <p:nvSpPr>
          <p:cNvPr id="16" name="text-38"/>
          <p:cNvSpPr txBox="1"/>
          <p:nvPr/>
        </p:nvSpPr>
        <p:spPr>
          <a:xfrm>
            <a:off x="8942832" y="2514600"/>
            <a:ext cx="2240280" cy="1371600"/>
          </a:xfrm>
          <a:prstGeom prst="rect">
            <a:avLst/>
          </a:prstGeom>
          <a:noFill/>
          <a:ln/>
        </p:spPr>
        <p:txBody>
          <a:bodyPr wrap="square" lIns="0" tIns="0" rIns="0" bIns="0" rtlCol="0" anchor="t"/>
          <a:lstStyle/>
          <a:p>
            <a:pPr indent="0" marL="0">
              <a:spcAft>
                <a:spcPts val="800"/>
              </a:spcAft>
              <a:buNone/>
            </a:pPr>
            <a:r>
              <a:rPr lang="en-US" sz="1200" b="1" dirty="0">
                <a:solidFill>
                  <a:schemeClr val="tx1"/>
                </a:solidFill>
                <a:latin typeface="Arial" pitchFamily="34" charset="0"/>
                <a:ea typeface="Arial" pitchFamily="34" charset="-122"/>
                <a:cs typeface="Arial" pitchFamily="34" charset="-120"/>
              </a:rPr>
              <a:t>worker: </a:t>
            </a:r>
            <a:pPr indent="0" marL="0">
              <a:spcAft>
                <a:spcPts val="800"/>
              </a:spcAft>
              <a:buNone/>
            </a:pPr>
            <a:r>
              <a:rPr lang="en-US" sz="1200" dirty="0">
                <a:solidFill>
                  <a:schemeClr val="accent6"/>
                </a:solidFill>
                <a:latin typeface="Arial" pitchFamily="34" charset="0"/>
                <a:ea typeface="Arial" pitchFamily="34" charset="-122"/>
                <a:cs typeface="Arial" pitchFamily="34" charset="-120"/>
              </a:rPr>
              <a:t>supervises rpc-server and bridges it to the leader</a:t>
            </a:r>
            <a:endParaRPr lang="en-US" sz="1200" dirty="0"/>
          </a:p>
          <a:p>
            <a:pPr indent="0" marL="0">
              <a:spcAft>
                <a:spcPts val="800"/>
              </a:spcAft>
              <a:buNone/>
            </a:pPr>
            <a:r>
              <a:rPr lang="en-US" sz="1200" b="1" dirty="0">
                <a:solidFill>
                  <a:schemeClr val="tx1"/>
                </a:solidFill>
                <a:latin typeface="Arial" pitchFamily="34" charset="0"/>
                <a:ea typeface="Arial" pitchFamily="34" charset="-122"/>
                <a:cs typeface="Arial" pitchFamily="34" charset="-120"/>
              </a:rPr>
              <a:t>shard-serve: </a:t>
            </a:r>
            <a:pPr indent="0" marL="0">
              <a:spcAft>
                <a:spcPts val="800"/>
              </a:spcAft>
              <a:buNone/>
            </a:pPr>
            <a:r>
              <a:rPr lang="en-US" sz="1200" dirty="0">
                <a:solidFill>
                  <a:schemeClr val="accent6"/>
                </a:solidFill>
                <a:latin typeface="Arial" pitchFamily="34" charset="0"/>
                <a:ea typeface="Arial" pitchFamily="34" charset="-122"/>
                <a:cs typeface="Arial" pitchFamily="34" charset="-120"/>
              </a:rPr>
              <a:t>runs one layer range per session</a:t>
            </a:r>
            <a:endParaRPr lang="en-US" sz="1200" dirty="0"/>
          </a:p>
        </p:txBody>
      </p:sp>
      <p:sp>
        <p:nvSpPr>
          <p:cNvPr id="17" name="card-39"/>
          <p:cNvSpPr/>
          <p:nvPr/>
        </p:nvSpPr>
        <p:spPr>
          <a:xfrm>
            <a:off x="822960" y="4315968"/>
            <a:ext cx="10543032" cy="612648"/>
          </a:xfrm>
          <a:prstGeom prst="roundRect">
            <a:avLst>
              <a:gd name="adj" fmla="val 14925"/>
            </a:avLst>
          </a:prstGeom>
          <a:solidFill>
            <a:schemeClr val="bg2"/>
          </a:solidFill>
          <a:ln/>
        </p:spPr>
      </p:sp>
      <p:pic>
        <p:nvPicPr>
          <p:cNvPr id="18" name="Image 0" descr="Lock">    </p:cNvPr>
          <p:cNvPicPr>
            <a:picLocks noChangeAspect="1"/>
          </p:cNvPicPr>
          <p:nvPr/>
        </p:nvPicPr>
        <p:blipFill>
          <a:blip r:embed="rId1"/>
          <a:stretch>
            <a:fillRect/>
          </a:stretch>
        </p:blipFill>
        <p:spPr>
          <a:xfrm>
            <a:off x="1097280" y="4471416"/>
            <a:ext cx="292608" cy="292608"/>
          </a:xfrm>
          <a:prstGeom prst="rect">
            <a:avLst/>
          </a:prstGeom>
        </p:spPr>
      </p:pic>
      <p:sp>
        <p:nvSpPr>
          <p:cNvPr id="19" name="text-40"/>
          <p:cNvSpPr txBox="1"/>
          <p:nvPr/>
        </p:nvSpPr>
        <p:spPr>
          <a:xfrm>
            <a:off x="1536192" y="4471416"/>
            <a:ext cx="9601200" cy="310896"/>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Iroh mesh underneath: </a:t>
            </a:r>
            <a:pPr indent="0" marL="0">
              <a:buNone/>
            </a:pPr>
            <a:r>
              <a:rPr lang="en-US" sz="1400" dirty="0">
                <a:solidFill>
                  <a:schemeClr val="accent6"/>
                </a:solidFill>
                <a:latin typeface="Arial" pitchFamily="34" charset="0"/>
                <a:ea typeface="Arial" pitchFamily="34" charset="-122"/>
                <a:cs typeface="Arial" pitchFamily="34" charset="-120"/>
              </a:rPr>
              <a:t>QUIC with NAT traversal and encryption. Workers serve only node IDs on their allowlist.</a:t>
            </a:r>
            <a:endParaRPr lang="en-US" sz="14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Arial" pitchFamily="34" charset="0"/>
                <a:ea typeface="Arial" pitchFamily="34" charset="-122"/>
                <a:cs typeface="Arial" pitchFamily="34" charset="-120"/>
              </a:rPr>
              <a:t>HOW A JOB RUNS</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tx1"/>
                </a:solidFill>
                <a:latin typeface="Trebuchet MS" pitchFamily="34" charset="0"/>
                <a:ea typeface="Trebuchet MS" pitchFamily="34" charset="-122"/>
                <a:cs typeface="Trebuchet MS" pitchFamily="34" charset="-120"/>
              </a:rPr>
              <a:t>From prompt to streamed reply, one token at a time</a:t>
            </a:r>
            <a:endParaRPr lang="en-US" sz="3300" dirty="0"/>
          </a:p>
        </p:txBody>
      </p:sp>
      <p:sp>
        <p:nvSpPr>
          <p:cNvPr id="4" name="card-41"/>
          <p:cNvSpPr/>
          <p:nvPr/>
        </p:nvSpPr>
        <p:spPr>
          <a:xfrm>
            <a:off x="822960" y="2029968"/>
            <a:ext cx="2514600" cy="2212848"/>
          </a:xfrm>
          <a:prstGeom prst="roundRect">
            <a:avLst>
              <a:gd name="adj" fmla="val 4959"/>
            </a:avLst>
          </a:prstGeom>
          <a:solidFill>
            <a:srgbClr val="FFFDF8"/>
          </a:solidFill>
          <a:ln w="12700">
            <a:solidFill>
              <a:srgbClr val="EFE6D8"/>
            </a:solidFill>
            <a:prstDash val="solid"/>
          </a:ln>
        </p:spPr>
      </p:sp>
      <p:sp>
        <p:nvSpPr>
          <p:cNvPr id="5" name="text-42"/>
          <p:cNvSpPr txBox="1"/>
          <p:nvPr/>
        </p:nvSpPr>
        <p:spPr>
          <a:xfrm>
            <a:off x="1069848" y="2258568"/>
            <a:ext cx="2011680" cy="411480"/>
          </a:xfrm>
          <a:prstGeom prst="rect">
            <a:avLst/>
          </a:prstGeom>
          <a:noFill/>
          <a:ln/>
        </p:spPr>
        <p:txBody>
          <a:bodyPr wrap="square" lIns="0" tIns="0" rIns="0" bIns="0" rtlCol="0" anchor="t"/>
          <a:lstStyle/>
          <a:p>
            <a:pPr indent="0" marL="0">
              <a:buNone/>
            </a:pPr>
            <a:r>
              <a:rPr lang="en-US" sz="2400" b="1" dirty="0">
                <a:solidFill>
                  <a:schemeClr val="accent1"/>
                </a:solidFill>
                <a:latin typeface="Trebuchet MS" pitchFamily="34" charset="0"/>
                <a:ea typeface="Trebuchet MS" pitchFamily="34" charset="-122"/>
                <a:cs typeface="Trebuchet MS" pitchFamily="34" charset="-120"/>
              </a:rPr>
              <a:t>01</a:t>
            </a:r>
            <a:endParaRPr lang="en-US" sz="2400" dirty="0"/>
          </a:p>
        </p:txBody>
      </p:sp>
      <p:sp>
        <p:nvSpPr>
          <p:cNvPr id="6" name="text-43"/>
          <p:cNvSpPr txBox="1"/>
          <p:nvPr/>
        </p:nvSpPr>
        <p:spPr>
          <a:xfrm>
            <a:off x="1069848" y="2743200"/>
            <a:ext cx="2011680" cy="320040"/>
          </a:xfrm>
          <a:prstGeom prst="rect">
            <a:avLst/>
          </a:prstGeom>
          <a:noFill/>
          <a:ln/>
        </p:spPr>
        <p:txBody>
          <a:bodyPr wrap="square" lIns="0" tIns="0" rIns="0" bIns="0" rtlCol="0" anchor="t"/>
          <a:lstStyle/>
          <a:p>
            <a:pPr indent="0" marL="0">
              <a:buNone/>
            </a:pPr>
            <a:r>
              <a:rPr lang="en-US" sz="1700" b="1" dirty="0">
                <a:solidFill>
                  <a:schemeClr val="tx1"/>
                </a:solidFill>
                <a:latin typeface="Trebuchet MS" pitchFamily="34" charset="0"/>
                <a:ea typeface="Trebuchet MS" pitchFamily="34" charset="-122"/>
                <a:cs typeface="Trebuchet MS" pitchFamily="34" charset="-120"/>
              </a:rPr>
              <a:t>Queue</a:t>
            </a:r>
            <a:endParaRPr lang="en-US" sz="1700" dirty="0"/>
          </a:p>
        </p:txBody>
      </p:sp>
      <p:sp>
        <p:nvSpPr>
          <p:cNvPr id="7" name="text-44"/>
          <p:cNvSpPr txBox="1"/>
          <p:nvPr/>
        </p:nvSpPr>
        <p:spPr>
          <a:xfrm>
            <a:off x="1069848" y="3127248"/>
            <a:ext cx="2057400" cy="100584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The job API takes a chat request off its queue and renders it with the model's chat template.</a:t>
            </a:r>
            <a:endParaRPr lang="en-US" sz="1200" dirty="0"/>
          </a:p>
        </p:txBody>
      </p:sp>
      <p:sp>
        <p:nvSpPr>
          <p:cNvPr id="8" name="card-45"/>
          <p:cNvSpPr/>
          <p:nvPr/>
        </p:nvSpPr>
        <p:spPr>
          <a:xfrm>
            <a:off x="3502152" y="2029968"/>
            <a:ext cx="2514600" cy="2212848"/>
          </a:xfrm>
          <a:prstGeom prst="roundRect">
            <a:avLst>
              <a:gd name="adj" fmla="val 4959"/>
            </a:avLst>
          </a:prstGeom>
          <a:solidFill>
            <a:srgbClr val="FFFDF8"/>
          </a:solidFill>
          <a:ln w="12700">
            <a:solidFill>
              <a:srgbClr val="EFE6D8"/>
            </a:solidFill>
            <a:prstDash val="solid"/>
          </a:ln>
        </p:spPr>
      </p:sp>
      <p:sp>
        <p:nvSpPr>
          <p:cNvPr id="9" name="text-46"/>
          <p:cNvSpPr txBox="1"/>
          <p:nvPr/>
        </p:nvSpPr>
        <p:spPr>
          <a:xfrm>
            <a:off x="3749040" y="2258568"/>
            <a:ext cx="2011680" cy="411480"/>
          </a:xfrm>
          <a:prstGeom prst="rect">
            <a:avLst/>
          </a:prstGeom>
          <a:noFill/>
          <a:ln/>
        </p:spPr>
        <p:txBody>
          <a:bodyPr wrap="square" lIns="0" tIns="0" rIns="0" bIns="0" rtlCol="0" anchor="t"/>
          <a:lstStyle/>
          <a:p>
            <a:pPr indent="0" marL="0">
              <a:buNone/>
            </a:pPr>
            <a:r>
              <a:rPr lang="en-US" sz="2400" b="1" dirty="0">
                <a:solidFill>
                  <a:schemeClr val="accent1"/>
                </a:solidFill>
                <a:latin typeface="Trebuchet MS" pitchFamily="34" charset="0"/>
                <a:ea typeface="Trebuchet MS" pitchFamily="34" charset="-122"/>
                <a:cs typeface="Trebuchet MS" pitchFamily="34" charset="-120"/>
              </a:rPr>
              <a:t>02</a:t>
            </a:r>
            <a:endParaRPr lang="en-US" sz="2400" dirty="0"/>
          </a:p>
        </p:txBody>
      </p:sp>
      <p:sp>
        <p:nvSpPr>
          <p:cNvPr id="10" name="text-47"/>
          <p:cNvSpPr txBox="1"/>
          <p:nvPr/>
        </p:nvSpPr>
        <p:spPr>
          <a:xfrm>
            <a:off x="3749040" y="2743200"/>
            <a:ext cx="2011680" cy="320040"/>
          </a:xfrm>
          <a:prstGeom prst="rect">
            <a:avLst/>
          </a:prstGeom>
          <a:noFill/>
          <a:ln/>
        </p:spPr>
        <p:txBody>
          <a:bodyPr wrap="square" lIns="0" tIns="0" rIns="0" bIns="0" rtlCol="0" anchor="t"/>
          <a:lstStyle/>
          <a:p>
            <a:pPr indent="0" marL="0">
              <a:buNone/>
            </a:pPr>
            <a:r>
              <a:rPr lang="en-US" sz="1700" b="1" dirty="0">
                <a:solidFill>
                  <a:schemeClr val="tx1"/>
                </a:solidFill>
                <a:latin typeface="Trebuchet MS" pitchFamily="34" charset="0"/>
                <a:ea typeface="Trebuchet MS" pitchFamily="34" charset="-122"/>
                <a:cs typeface="Trebuchet MS" pitchFamily="34" charset="-120"/>
              </a:rPr>
              <a:t>Dial</a:t>
            </a:r>
            <a:endParaRPr lang="en-US" sz="1700" dirty="0"/>
          </a:p>
        </p:txBody>
      </p:sp>
      <p:sp>
        <p:nvSpPr>
          <p:cNvPr id="11" name="text-48"/>
          <p:cNvSpPr txBox="1"/>
          <p:nvPr/>
        </p:nvSpPr>
        <p:spPr>
          <a:xfrm>
            <a:off x="3749040" y="3127248"/>
            <a:ext cx="2057400" cy="100584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The leader dials the prefix worker by node ID and starts its own final-stage runner.</a:t>
            </a:r>
            <a:endParaRPr lang="en-US" sz="1200" dirty="0"/>
          </a:p>
        </p:txBody>
      </p:sp>
      <p:sp>
        <p:nvSpPr>
          <p:cNvPr id="12" name="card-49"/>
          <p:cNvSpPr/>
          <p:nvPr/>
        </p:nvSpPr>
        <p:spPr>
          <a:xfrm>
            <a:off x="6181344" y="2029968"/>
            <a:ext cx="2514600" cy="2212848"/>
          </a:xfrm>
          <a:prstGeom prst="roundRect">
            <a:avLst>
              <a:gd name="adj" fmla="val 4959"/>
            </a:avLst>
          </a:prstGeom>
          <a:solidFill>
            <a:srgbClr val="FFFDF8"/>
          </a:solidFill>
          <a:ln w="12700">
            <a:solidFill>
              <a:srgbClr val="EFE6D8"/>
            </a:solidFill>
            <a:prstDash val="solid"/>
          </a:ln>
        </p:spPr>
      </p:sp>
      <p:sp>
        <p:nvSpPr>
          <p:cNvPr id="13" name="text-50"/>
          <p:cNvSpPr txBox="1"/>
          <p:nvPr/>
        </p:nvSpPr>
        <p:spPr>
          <a:xfrm>
            <a:off x="6428232" y="2258568"/>
            <a:ext cx="2011680" cy="411480"/>
          </a:xfrm>
          <a:prstGeom prst="rect">
            <a:avLst/>
          </a:prstGeom>
          <a:noFill/>
          <a:ln/>
        </p:spPr>
        <p:txBody>
          <a:bodyPr wrap="square" lIns="0" tIns="0" rIns="0" bIns="0" rtlCol="0" anchor="t"/>
          <a:lstStyle/>
          <a:p>
            <a:pPr indent="0" marL="0">
              <a:buNone/>
            </a:pPr>
            <a:r>
              <a:rPr lang="en-US" sz="2400" b="1" dirty="0">
                <a:solidFill>
                  <a:schemeClr val="accent1"/>
                </a:solidFill>
                <a:latin typeface="Trebuchet MS" pitchFamily="34" charset="0"/>
                <a:ea typeface="Trebuchet MS" pitchFamily="34" charset="-122"/>
                <a:cs typeface="Trebuchet MS" pitchFamily="34" charset="-120"/>
              </a:rPr>
              <a:t>03</a:t>
            </a:r>
            <a:endParaRPr lang="en-US" sz="2400" dirty="0"/>
          </a:p>
        </p:txBody>
      </p:sp>
      <p:sp>
        <p:nvSpPr>
          <p:cNvPr id="14" name="text-51"/>
          <p:cNvSpPr txBox="1"/>
          <p:nvPr/>
        </p:nvSpPr>
        <p:spPr>
          <a:xfrm>
            <a:off x="6428232" y="2743200"/>
            <a:ext cx="2011680" cy="320040"/>
          </a:xfrm>
          <a:prstGeom prst="rect">
            <a:avLst/>
          </a:prstGeom>
          <a:noFill/>
          <a:ln/>
        </p:spPr>
        <p:txBody>
          <a:bodyPr wrap="square" lIns="0" tIns="0" rIns="0" bIns="0" rtlCol="0" anchor="t"/>
          <a:lstStyle/>
          <a:p>
            <a:pPr indent="0" marL="0">
              <a:buNone/>
            </a:pPr>
            <a:r>
              <a:rPr lang="en-US" sz="1700" b="1" dirty="0">
                <a:solidFill>
                  <a:schemeClr val="tx1"/>
                </a:solidFill>
                <a:latin typeface="Trebuchet MS" pitchFamily="34" charset="0"/>
                <a:ea typeface="Trebuchet MS" pitchFamily="34" charset="-122"/>
                <a:cs typeface="Trebuchet MS" pitchFamily="34" charset="-120"/>
              </a:rPr>
              <a:t>Pass</a:t>
            </a:r>
            <a:endParaRPr lang="en-US" sz="1700" dirty="0"/>
          </a:p>
        </p:txBody>
      </p:sp>
      <p:sp>
        <p:nvSpPr>
          <p:cNvPr id="15" name="text-52"/>
          <p:cNvSpPr txBox="1"/>
          <p:nvPr/>
        </p:nvSpPr>
        <p:spPr>
          <a:xfrm>
            <a:off x="6428232" y="3127248"/>
            <a:ext cx="2057400" cy="100584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Token IDs go out, hidden states come back, the final stage picks the next token.</a:t>
            </a:r>
            <a:endParaRPr lang="en-US" sz="1200" dirty="0"/>
          </a:p>
        </p:txBody>
      </p:sp>
      <p:sp>
        <p:nvSpPr>
          <p:cNvPr id="16" name="card-53"/>
          <p:cNvSpPr/>
          <p:nvPr/>
        </p:nvSpPr>
        <p:spPr>
          <a:xfrm>
            <a:off x="8860536" y="2029968"/>
            <a:ext cx="2514600" cy="2212848"/>
          </a:xfrm>
          <a:prstGeom prst="roundRect">
            <a:avLst>
              <a:gd name="adj" fmla="val 4959"/>
            </a:avLst>
          </a:prstGeom>
          <a:solidFill>
            <a:srgbClr val="FFFDF8"/>
          </a:solidFill>
          <a:ln w="12700">
            <a:solidFill>
              <a:srgbClr val="EFE6D8"/>
            </a:solidFill>
            <a:prstDash val="solid"/>
          </a:ln>
        </p:spPr>
      </p:sp>
      <p:sp>
        <p:nvSpPr>
          <p:cNvPr id="17" name="text-54"/>
          <p:cNvSpPr txBox="1"/>
          <p:nvPr/>
        </p:nvSpPr>
        <p:spPr>
          <a:xfrm>
            <a:off x="9107424" y="2258568"/>
            <a:ext cx="2011680" cy="411480"/>
          </a:xfrm>
          <a:prstGeom prst="rect">
            <a:avLst/>
          </a:prstGeom>
          <a:noFill/>
          <a:ln/>
        </p:spPr>
        <p:txBody>
          <a:bodyPr wrap="square" lIns="0" tIns="0" rIns="0" bIns="0" rtlCol="0" anchor="t"/>
          <a:lstStyle/>
          <a:p>
            <a:pPr indent="0" marL="0">
              <a:buNone/>
            </a:pPr>
            <a:r>
              <a:rPr lang="en-US" sz="2400" b="1" dirty="0">
                <a:solidFill>
                  <a:schemeClr val="accent1"/>
                </a:solidFill>
                <a:latin typeface="Trebuchet MS" pitchFamily="34" charset="0"/>
                <a:ea typeface="Trebuchet MS" pitchFamily="34" charset="-122"/>
                <a:cs typeface="Trebuchet MS" pitchFamily="34" charset="-120"/>
              </a:rPr>
              <a:t>04</a:t>
            </a:r>
            <a:endParaRPr lang="en-US" sz="2400" dirty="0"/>
          </a:p>
        </p:txBody>
      </p:sp>
      <p:sp>
        <p:nvSpPr>
          <p:cNvPr id="18" name="text-55"/>
          <p:cNvSpPr txBox="1"/>
          <p:nvPr/>
        </p:nvSpPr>
        <p:spPr>
          <a:xfrm>
            <a:off x="9107424" y="2743200"/>
            <a:ext cx="2011680" cy="320040"/>
          </a:xfrm>
          <a:prstGeom prst="rect">
            <a:avLst/>
          </a:prstGeom>
          <a:noFill/>
          <a:ln/>
        </p:spPr>
        <p:txBody>
          <a:bodyPr wrap="square" lIns="0" tIns="0" rIns="0" bIns="0" rtlCol="0" anchor="t"/>
          <a:lstStyle/>
          <a:p>
            <a:pPr indent="0" marL="0">
              <a:buNone/>
            </a:pPr>
            <a:r>
              <a:rPr lang="en-US" sz="1700" b="1" dirty="0">
                <a:solidFill>
                  <a:schemeClr val="tx1"/>
                </a:solidFill>
                <a:latin typeface="Trebuchet MS" pitchFamily="34" charset="0"/>
                <a:ea typeface="Trebuchet MS" pitchFamily="34" charset="-122"/>
                <a:cs typeface="Trebuchet MS" pitchFamily="34" charset="-120"/>
              </a:rPr>
              <a:t>Stream</a:t>
            </a:r>
            <a:endParaRPr lang="en-US" sz="1700" dirty="0"/>
          </a:p>
        </p:txBody>
      </p:sp>
      <p:sp>
        <p:nvSpPr>
          <p:cNvPr id="19" name="text-56"/>
          <p:cNvSpPr txBox="1"/>
          <p:nvPr/>
        </p:nvSpPr>
        <p:spPr>
          <a:xfrm>
            <a:off x="9107424" y="3127248"/>
            <a:ext cx="2057400" cy="100584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Each token loops back to the prefix; text streams to the browser as it is made.</a:t>
            </a:r>
            <a:endParaRPr lang="en-US" sz="1200" dirty="0"/>
          </a:p>
        </p:txBody>
      </p:sp>
      <p:sp>
        <p:nvSpPr>
          <p:cNvPr id="20" name="text-57"/>
          <p:cNvSpPr txBox="1"/>
          <p:nvPr/>
        </p:nvSpPr>
        <p:spPr>
          <a:xfrm>
            <a:off x="822960" y="4590288"/>
            <a:ext cx="10424160" cy="365760"/>
          </a:xfrm>
          <a:prstGeom prst="rect">
            <a:avLst/>
          </a:prstGeom>
          <a:noFill/>
          <a:ln/>
        </p:spPr>
        <p:txBody>
          <a:bodyPr wrap="square" lIns="0" tIns="0" rIns="0" bIns="0" rtlCol="0" anchor="t"/>
          <a:lstStyle/>
          <a:p>
            <a:pPr indent="0" marL="0">
              <a:buNone/>
            </a:pPr>
            <a:r>
              <a:rPr lang="en-US" sz="1500" dirty="0">
                <a:solidFill>
                  <a:schemeClr val="accent6"/>
                </a:solidFill>
                <a:latin typeface="Arial" pitchFamily="34" charset="0"/>
                <a:ea typeface="Arial" pitchFamily="34" charset="-122"/>
                <a:cs typeface="Arial" pitchFamily="34" charset="-120"/>
              </a:rPr>
              <a:t>Each worker runs one session at a time with a fresh runner, so jobs never share state on a device.</a:t>
            </a:r>
            <a:endParaRPr lang="en-US" sz="15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rgbClr val="FFD9CF"/>
                </a:solidFill>
                <a:latin typeface="Arial" pitchFamily="34" charset="0"/>
                <a:ea typeface="Arial" pitchFamily="34" charset="-122"/>
                <a:cs typeface="Arial" pitchFamily="34" charset="-120"/>
              </a:rPr>
              <a:t>THE RESULT  ·  OCTOBER 24, 2026</a:t>
            </a:r>
            <a:endParaRPr lang="en-US" sz="1200" dirty="0"/>
          </a:p>
        </p:txBody>
      </p:sp>
      <p:sp>
        <p:nvSpPr>
          <p:cNvPr id="3" name="text-58"/>
          <p:cNvSpPr txBox="1"/>
          <p:nvPr/>
        </p:nvSpPr>
        <p:spPr>
          <a:xfrm>
            <a:off x="822960" y="1691640"/>
            <a:ext cx="10607040" cy="1783080"/>
          </a:xfrm>
          <a:prstGeom prst="rect">
            <a:avLst/>
          </a:prstGeom>
          <a:noFill/>
          <a:ln/>
        </p:spPr>
        <p:txBody>
          <a:bodyPr wrap="square" lIns="0" tIns="0" rIns="0" bIns="0" rtlCol="0" anchor="t"/>
          <a:lstStyle/>
          <a:p>
            <a:pPr indent="0" marL="0">
              <a:buNone/>
            </a:pPr>
            <a:r>
              <a:rPr lang="en-US" sz="5400" b="1" dirty="0">
                <a:solidFill>
                  <a:srgbClr val="FBF6EE"/>
                </a:solidFill>
                <a:latin typeface="Trebuchet MS" pitchFamily="34" charset="0"/>
                <a:ea typeface="Trebuchet MS" pitchFamily="34" charset="-122"/>
                <a:cs typeface="Trebuchet MS" pitchFamily="34" charset="-120"/>
              </a:rPr>
              <a:t>A 32B model ran across two</a:t>
            </a:r>
            <a:endParaRPr lang="en-US" sz="5400" dirty="0"/>
          </a:p>
          <a:p>
            <a:pPr indent="0" marL="0">
              <a:buNone/>
            </a:pPr>
            <a:r>
              <a:rPr lang="en-US" sz="5400" b="1" dirty="0">
                <a:solidFill>
                  <a:srgbClr val="FBF6EE"/>
                </a:solidFill>
                <a:latin typeface="Trebuchet MS" pitchFamily="34" charset="0"/>
                <a:ea typeface="Trebuchet MS" pitchFamily="34" charset="-122"/>
                <a:cs typeface="Trebuchet MS" pitchFamily="34" charset="-120"/>
              </a:rPr>
              <a:t>16 GiB Macs.</a:t>
            </a:r>
            <a:endParaRPr lang="en-US" sz="5400" dirty="0"/>
          </a:p>
        </p:txBody>
      </p:sp>
      <p:sp>
        <p:nvSpPr>
          <p:cNvPr id="4" name="text-59"/>
          <p:cNvSpPr txBox="1"/>
          <p:nvPr/>
        </p:nvSpPr>
        <p:spPr>
          <a:xfrm>
            <a:off x="822960" y="3639312"/>
            <a:ext cx="9601200" cy="777240"/>
          </a:xfrm>
          <a:prstGeom prst="rect">
            <a:avLst/>
          </a:prstGeom>
          <a:noFill/>
          <a:ln/>
        </p:spPr>
        <p:txBody>
          <a:bodyPr wrap="square" lIns="0" tIns="0" rIns="0" bIns="0" rtlCol="0" anchor="t"/>
          <a:lstStyle/>
          <a:p>
            <a:pPr indent="0" marL="0">
              <a:buNone/>
            </a:pPr>
            <a:r>
              <a:rPr lang="en-US" sz="2000" dirty="0">
                <a:solidFill>
                  <a:srgbClr val="FBF6EE"/>
                </a:solidFill>
                <a:latin typeface="Arial" pitchFamily="34" charset="0"/>
                <a:ea typeface="Arial" pitchFamily="34" charset="-122"/>
                <a:cs typeface="Arial" pitchFamily="34" charset="-120"/>
              </a:rPr>
              <a:t>Qwen2.5-32B Q4_K_M, split 32/32 over Iroh. Neither Mac ever loaded the full set of weights.</a:t>
            </a:r>
            <a:endParaRPr lang="en-US" sz="2000" dirty="0"/>
          </a:p>
        </p:txBody>
      </p:sp>
      <p:sp>
        <p:nvSpPr>
          <p:cNvPr id="5" name="quote-rule"/>
          <p:cNvSpPr/>
          <p:nvPr/>
        </p:nvSpPr>
        <p:spPr>
          <a:xfrm>
            <a:off x="822960" y="5074920"/>
            <a:ext cx="0" cy="960120"/>
          </a:xfrm>
          <a:prstGeom prst="line">
            <a:avLst/>
          </a:prstGeom>
          <a:noFill/>
          <a:ln w="25400">
            <a:solidFill>
              <a:srgbClr val="FFF5E6"/>
            </a:solidFill>
            <a:prstDash val="solid"/>
          </a:ln>
        </p:spPr>
      </p:sp>
      <p:sp>
        <p:nvSpPr>
          <p:cNvPr id="6" name="text-60"/>
          <p:cNvSpPr txBox="1"/>
          <p:nvPr/>
        </p:nvSpPr>
        <p:spPr>
          <a:xfrm>
            <a:off x="1051560" y="5074920"/>
            <a:ext cx="9692640" cy="621792"/>
          </a:xfrm>
          <a:prstGeom prst="rect">
            <a:avLst/>
          </a:prstGeom>
          <a:noFill/>
          <a:ln/>
        </p:spPr>
        <p:txBody>
          <a:bodyPr wrap="square" lIns="0" tIns="0" rIns="0" bIns="0" rtlCol="0" anchor="t"/>
          <a:lstStyle/>
          <a:p>
            <a:pPr indent="0" marL="0">
              <a:buNone/>
            </a:pPr>
            <a:r>
              <a:rPr lang="en-US" sz="1400" i="1" dirty="0">
                <a:solidFill>
                  <a:srgbClr val="FBF6EE"/>
                </a:solidFill>
                <a:latin typeface="Arial" pitchFamily="34" charset="0"/>
                <a:ea typeface="Arial" pitchFamily="34" charset="-122"/>
                <a:cs typeface="Arial" pitchFamily="34" charset="-120"/>
              </a:rPr>
              <a:t>“Splitting a language model across two computers distributes the computational load, allowing each machine to handle a portion of the model.”</a:t>
            </a:r>
            <a:endParaRPr lang="en-US" sz="1400" dirty="0"/>
          </a:p>
        </p:txBody>
      </p:sp>
      <p:sp>
        <p:nvSpPr>
          <p:cNvPr id="7" name="text-61"/>
          <p:cNvSpPr txBox="1"/>
          <p:nvPr/>
        </p:nvSpPr>
        <p:spPr>
          <a:xfrm>
            <a:off x="1051560" y="5760720"/>
            <a:ext cx="9144000" cy="274320"/>
          </a:xfrm>
          <a:prstGeom prst="rect">
            <a:avLst/>
          </a:prstGeom>
          <a:noFill/>
          <a:ln/>
        </p:spPr>
        <p:txBody>
          <a:bodyPr wrap="square" lIns="0" tIns="0" rIns="0" bIns="0" rtlCol="0" anchor="t"/>
          <a:lstStyle/>
          <a:p>
            <a:pPr indent="0" marL="0">
              <a:buNone/>
            </a:pPr>
            <a:r>
              <a:rPr lang="en-US" sz="1100" dirty="0">
                <a:solidFill>
                  <a:srgbClr val="FFD9CF"/>
                </a:solidFill>
                <a:latin typeface="Arial" pitchFamily="34" charset="0"/>
                <a:ea typeface="Arial" pitchFamily="34" charset="-122"/>
                <a:cs typeface="Arial" pitchFamily="34" charset="-120"/>
              </a:rPr>
              <a:t>The model's own reply, 41 output steps on an M1 Air + M2 Pro</a:t>
            </a:r>
            <a:endParaRPr lang="en-US" sz="1100" dirty="0"/>
          </a:p>
        </p:txBody>
      </p:sp>
      <p:sp>
        <p:nvSpPr>
          <p:cNvPr id="9"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endParaRPr lang="en-US" sz="33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D9C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Arial" pitchFamily="34" charset="0"/>
                <a:ea typeface="Arial" pitchFamily="34" charset="-122"/>
                <a:cs typeface="Arial" pitchFamily="34" charset="-120"/>
              </a:rPr>
              <a:t>WHAT WE MEASURED</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tx1"/>
                </a:solidFill>
                <a:latin typeface="Trebuchet MS" pitchFamily="34" charset="0"/>
                <a:ea typeface="Trebuchet MS" pitchFamily="34" charset="-122"/>
                <a:cs typeface="Trebuchet MS" pitchFamily="34" charset="-120"/>
              </a:rPr>
              <a:t>Each Mac carried about half the model</a:t>
            </a:r>
            <a:endParaRPr lang="en-US" sz="3300" dirty="0"/>
          </a:p>
        </p:txBody>
      </p:sp>
      <p:sp>
        <p:nvSpPr>
          <p:cNvPr id="4" name="card-62"/>
          <p:cNvSpPr/>
          <p:nvPr/>
        </p:nvSpPr>
        <p:spPr>
          <a:xfrm>
            <a:off x="822960" y="1938528"/>
            <a:ext cx="6601968" cy="2221992"/>
          </a:xfrm>
          <a:prstGeom prst="roundRect">
            <a:avLst>
              <a:gd name="adj" fmla="val 4938"/>
            </a:avLst>
          </a:prstGeom>
          <a:solidFill>
            <a:srgbClr val="FFFDF8"/>
          </a:solidFill>
          <a:ln w="12700">
            <a:solidFill>
              <a:srgbClr val="EFE6D8"/>
            </a:solidFill>
            <a:prstDash val="solid"/>
          </a:ln>
        </p:spPr>
      </p:sp>
      <p:graphicFrame>
        <p:nvGraphicFramePr>
          <p:cNvPr id="8" name="measurements"/>
          <p:cNvGraphicFramePr>
            <a:graphicFrameLocks noGrp="1"/>
          </p:cNvGraphicFramePr>
          <p:nvPr>
            <p:extLst>
              <p:ext uri="{D42A27DB-BD31-4B8C-83A1-F6EECF244321}">
                <p14:modId xmlns:p14="http://schemas.microsoft.com/office/powerpoint/2010/main" val="1579011935"/>
              </p:ext>
            </p:extLst>
          </p:nvPr>
        </p:nvGraphicFramePr>
        <p:xfrm>
          <a:off x="1042416" y="2157984"/>
          <a:ext cx="6163056" cy="914400"/>
        </p:xfrm>
        <a:graphic>
          <a:graphicData uri="http://schemas.openxmlformats.org/drawingml/2006/table">
            <a:tbl>
              <a:tblPr/>
              <a:tblGrid>
                <a:gridCol w="2962656"/>
                <a:gridCol w="1600200"/>
                <a:gridCol w="1600200"/>
              </a:tblGrid>
              <a:tr h="347472">
                <a:tc>
                  <a:txBody>
                    <a:bodyPr/>
                    <a:lstStyle/>
                    <a:p>
                      <a:pPr indent="0" marL="0">
                        <a:buNone/>
                      </a:pPr>
                      <a:r>
                        <a:rPr lang="en-US" sz="1300" b="1" dirty="0">
                          <a:solidFill>
                            <a:schemeClr val="tx1"/>
                          </a:solidFill>
                          <a:latin typeface="Arial" pitchFamily="34" charset="0"/>
                          <a:ea typeface="Arial" pitchFamily="34" charset="-122"/>
                          <a:cs typeface="Arial" pitchFamily="34" charset="-120"/>
                        </a:rPr>
                        <a:t>Metric</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M1 prefix</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M2 suffix</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chemeClr val="bg2"/>
                    </a:solidFill>
                  </a:tcPr>
                </a:tc>
              </a:tr>
              <a:tr h="347472">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Owned layers</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0–31</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32–63</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r>
              <a:tr h="347472">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Runtime buffers</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9.96 GB</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10.18 GB</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r>
              <a:tr h="347472">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Peak task footprint</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10.13 GB</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10.97 GB</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r>
              <a:tr h="347472">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Median decode compute</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171 ms</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65 ms</a:t>
                      </a:r>
                      <a:endParaRPr lang="en-US" sz="1300" dirty="0">
                        <a:latin typeface="Arial" charset="0"/>
                        <a:ea typeface="Arial" charset="0"/>
                        <a:cs typeface="Arial" charset="0"/>
                      </a:endParaRPr>
                    </a:p>
                  </a:txBody>
                  <a:tcPr marL="109728" marR="109728" marT="0" marB="0" anchor="ctr">
                    <a:lnL w="9525" cap="flat" cmpd="sng" algn="ctr">
                      <a:solidFill>
                        <a:srgbClr val="DCCFBE"/>
                      </a:solidFill>
                      <a:prstDash val="solid"/>
                      <a:round/>
                      <a:headEnd type="none" w="med" len="med"/>
                      <a:tailEnd type="none" w="med" len="med"/>
                    </a:lnL>
                    <a:lnR w="9525" cap="flat" cmpd="sng" algn="ctr">
                      <a:solidFill>
                        <a:srgbClr val="DCCFBE"/>
                      </a:solidFill>
                      <a:prstDash val="solid"/>
                      <a:round/>
                      <a:headEnd type="none" w="med" len="med"/>
                      <a:tailEnd type="none" w="med" len="med"/>
                    </a:lnR>
                    <a:lnT w="9525" cap="flat" cmpd="sng" algn="ctr">
                      <a:solidFill>
                        <a:srgbClr val="DCCFBE"/>
                      </a:solidFill>
                      <a:prstDash val="solid"/>
                      <a:round/>
                      <a:headEnd type="none" w="med" len="med"/>
                      <a:tailEnd type="none" w="med" len="med"/>
                    </a:lnT>
                    <a:lnB w="9525" cap="flat" cmpd="sng" algn="ctr">
                      <a:solidFill>
                        <a:srgbClr val="DCCFBE"/>
                      </a:solidFill>
                      <a:prstDash val="solid"/>
                      <a:round/>
                      <a:headEnd type="none" w="med" len="med"/>
                      <a:tailEnd type="none" w="med" len="med"/>
                    </a:lnB>
                    <a:solidFill>
                      <a:srgbClr val="FFFDF8"/>
                    </a:solidFill>
                  </a:tcPr>
                </a:tc>
              </a:tr>
            </a:tbl>
          </a:graphicData>
        </a:graphic>
      </p:graphicFrame>
      <p:sp>
        <p:nvSpPr>
          <p:cNvPr id="6" name="card-63"/>
          <p:cNvSpPr/>
          <p:nvPr/>
        </p:nvSpPr>
        <p:spPr>
          <a:xfrm>
            <a:off x="7616952" y="1938528"/>
            <a:ext cx="3749040" cy="1143000"/>
          </a:xfrm>
          <a:prstGeom prst="roundRect">
            <a:avLst>
              <a:gd name="adj" fmla="val 9600"/>
            </a:avLst>
          </a:prstGeom>
          <a:solidFill>
            <a:schemeClr val="bg2"/>
          </a:solidFill>
          <a:ln/>
        </p:spPr>
      </p:sp>
      <p:sp>
        <p:nvSpPr>
          <p:cNvPr id="7" name="text-64"/>
          <p:cNvSpPr txBox="1"/>
          <p:nvPr/>
        </p:nvSpPr>
        <p:spPr>
          <a:xfrm>
            <a:off x="7863840" y="2121408"/>
            <a:ext cx="3291840" cy="548640"/>
          </a:xfrm>
          <a:prstGeom prst="rect">
            <a:avLst/>
          </a:prstGeom>
          <a:noFill/>
          <a:ln/>
        </p:spPr>
        <p:txBody>
          <a:bodyPr wrap="square" lIns="0" tIns="0" rIns="0" bIns="0" rtlCol="0" anchor="t"/>
          <a:lstStyle/>
          <a:p>
            <a:pPr indent="0" marL="0">
              <a:buNone/>
            </a:pPr>
            <a:r>
              <a:rPr lang="en-US" sz="3600" b="1" dirty="0">
                <a:solidFill>
                  <a:schemeClr val="tx1"/>
                </a:solidFill>
                <a:latin typeface="Trebuchet MS" pitchFamily="34" charset="0"/>
                <a:ea typeface="Trebuchet MS" pitchFamily="34" charset="-122"/>
                <a:cs typeface="Trebuchet MS" pitchFamily="34" charset="-120"/>
              </a:rPr>
              <a:t>2.33</a:t>
            </a:r>
            <a:endParaRPr lang="en-US" sz="3600" dirty="0"/>
          </a:p>
        </p:txBody>
      </p:sp>
      <p:sp>
        <p:nvSpPr>
          <p:cNvPr id="8" name="text-65"/>
          <p:cNvSpPr txBox="1"/>
          <p:nvPr/>
        </p:nvSpPr>
        <p:spPr>
          <a:xfrm>
            <a:off x="7863840" y="2688336"/>
            <a:ext cx="3291840" cy="27432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output steps per second after prefill</a:t>
            </a:r>
            <a:endParaRPr lang="en-US" sz="1200" dirty="0"/>
          </a:p>
        </p:txBody>
      </p:sp>
      <p:sp>
        <p:nvSpPr>
          <p:cNvPr id="9" name="card-66"/>
          <p:cNvSpPr/>
          <p:nvPr/>
        </p:nvSpPr>
        <p:spPr>
          <a:xfrm>
            <a:off x="7616952" y="3227832"/>
            <a:ext cx="3749040" cy="1344168"/>
          </a:xfrm>
          <a:prstGeom prst="roundRect">
            <a:avLst>
              <a:gd name="adj" fmla="val 8163"/>
            </a:avLst>
          </a:prstGeom>
          <a:solidFill>
            <a:schemeClr val="bg2"/>
          </a:solidFill>
          <a:ln/>
        </p:spPr>
      </p:sp>
      <p:sp>
        <p:nvSpPr>
          <p:cNvPr id="10" name="text-67"/>
          <p:cNvSpPr txBox="1"/>
          <p:nvPr/>
        </p:nvSpPr>
        <p:spPr>
          <a:xfrm>
            <a:off x="7863840" y="3410712"/>
            <a:ext cx="3291840" cy="548640"/>
          </a:xfrm>
          <a:prstGeom prst="rect">
            <a:avLst/>
          </a:prstGeom>
          <a:noFill/>
          <a:ln/>
        </p:spPr>
        <p:txBody>
          <a:bodyPr wrap="square" lIns="0" tIns="0" rIns="0" bIns="0" rtlCol="0" anchor="t"/>
          <a:lstStyle/>
          <a:p>
            <a:pPr indent="0" marL="0">
              <a:buNone/>
            </a:pPr>
            <a:r>
              <a:rPr lang="en-US" sz="3600" b="1" dirty="0">
                <a:solidFill>
                  <a:schemeClr val="tx1"/>
                </a:solidFill>
                <a:latin typeface="Trebuchet MS" pitchFamily="34" charset="0"/>
                <a:ea typeface="Trebuchet MS" pitchFamily="34" charset="-122"/>
                <a:cs typeface="Trebuchet MS" pitchFamily="34" charset="-120"/>
              </a:rPr>
              <a:t>20 KB</a:t>
            </a:r>
            <a:endParaRPr lang="en-US" sz="3600" dirty="0"/>
          </a:p>
        </p:txBody>
      </p:sp>
      <p:sp>
        <p:nvSpPr>
          <p:cNvPr id="11" name="text-68"/>
          <p:cNvSpPr txBox="1"/>
          <p:nvPr/>
        </p:nvSpPr>
        <p:spPr>
          <a:xfrm>
            <a:off x="7863840" y="3977640"/>
            <a:ext cx="3291840" cy="475488"/>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activation per step, against a 24-byte token request</a:t>
            </a:r>
            <a:endParaRPr lang="en-US" sz="1200" dirty="0"/>
          </a:p>
        </p:txBody>
      </p:sp>
      <p:sp>
        <p:nvSpPr>
          <p:cNvPr id="12" name="text-69"/>
          <p:cNvSpPr txBox="1"/>
          <p:nvPr/>
        </p:nvSpPr>
        <p:spPr>
          <a:xfrm>
            <a:off x="822960" y="6236208"/>
            <a:ext cx="9601200" cy="274320"/>
          </a:xfrm>
          <a:prstGeom prst="rect">
            <a:avLst/>
          </a:prstGeom>
          <a:noFill/>
          <a:ln/>
        </p:spPr>
        <p:txBody>
          <a:bodyPr wrap="square" lIns="0" tIns="0" rIns="0" bIns="0" rtlCol="0" anchor="t"/>
          <a:lstStyle/>
          <a:p>
            <a:pPr indent="0" marL="0">
              <a:buNone/>
            </a:pPr>
            <a:r>
              <a:rPr lang="en-US" sz="1000" dirty="0">
                <a:solidFill>
                  <a:schemeClr val="accent6"/>
                </a:solidFill>
                <a:latin typeface="Arial" pitchFamily="34" charset="0"/>
                <a:ea typeface="Arial" pitchFamily="34" charset="-122"/>
                <a:cs typeface="Arial" pitchFamily="34" charset="-120"/>
              </a:rPr>
              <a:t>One cold run over a relayed Iroh path; not a controlled throughput comparison. Source: SHARD_RUNNER.md</a:t>
            </a:r>
            <a:endParaRPr lang="en-US" sz="10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3"/>
                </a:solidFill>
                <a:latin typeface="Arial" pitchFamily="34" charset="0"/>
                <a:ea typeface="Arial" pitchFamily="34" charset="-122"/>
                <a:cs typeface="Arial" pitchFamily="34" charset="-120"/>
              </a:rPr>
              <a:t>PLACEMENT</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bg1"/>
                </a:solidFill>
                <a:latin typeface="Trebuchet MS" pitchFamily="34" charset="0"/>
                <a:ea typeface="Trebuchet MS" pitchFamily="34" charset="-122"/>
                <a:cs typeface="Trebuchet MS" pitchFamily="34" charset="-120"/>
              </a:rPr>
              <a:t>Measured profiles become a launch plan</a:t>
            </a:r>
            <a:endParaRPr lang="en-US" sz="3300" dirty="0"/>
          </a:p>
        </p:txBody>
      </p:sp>
      <p:sp>
        <p:nvSpPr>
          <p:cNvPr id="4" name="card-70"/>
          <p:cNvSpPr/>
          <p:nvPr/>
        </p:nvSpPr>
        <p:spPr>
          <a:xfrm>
            <a:off x="822960" y="2057400"/>
            <a:ext cx="3035808" cy="1691640"/>
          </a:xfrm>
          <a:prstGeom prst="roundRect">
            <a:avLst>
              <a:gd name="adj" fmla="val 6486"/>
            </a:avLst>
          </a:prstGeom>
          <a:solidFill>
            <a:schemeClr val="accent5"/>
          </a:solidFill>
          <a:ln/>
        </p:spPr>
      </p:sp>
      <p:sp>
        <p:nvSpPr>
          <p:cNvPr id="5" name="text-71"/>
          <p:cNvSpPr txBox="1"/>
          <p:nvPr/>
        </p:nvSpPr>
        <p:spPr>
          <a:xfrm>
            <a:off x="1078992" y="2286000"/>
            <a:ext cx="2560320" cy="384048"/>
          </a:xfrm>
          <a:prstGeom prst="rect">
            <a:avLst/>
          </a:prstGeom>
          <a:noFill/>
          <a:ln/>
        </p:spPr>
        <p:txBody>
          <a:bodyPr wrap="square" lIns="0" tIns="0" rIns="0" bIns="0" rtlCol="0" anchor="t"/>
          <a:lstStyle/>
          <a:p>
            <a:pPr indent="0" marL="0">
              <a:buNone/>
            </a:pPr>
            <a:r>
              <a:rPr lang="en-US" sz="2100" dirty="0">
                <a:solidFill>
                  <a:schemeClr val="bg1"/>
                </a:solidFill>
                <a:latin typeface="Trebuchet MS" pitchFamily="34" charset="0"/>
                <a:ea typeface="Trebuchet MS" pitchFamily="34" charset="-122"/>
                <a:cs typeface="Trebuchet MS" pitchFamily="34" charset="-120"/>
              </a:rPr>
              <a:t>Profiles</a:t>
            </a:r>
            <a:endParaRPr lang="en-US" sz="2100" dirty="0"/>
          </a:p>
        </p:txBody>
      </p:sp>
      <p:sp>
        <p:nvSpPr>
          <p:cNvPr id="6" name="text-72"/>
          <p:cNvSpPr txBox="1"/>
          <p:nvPr/>
        </p:nvSpPr>
        <p:spPr>
          <a:xfrm>
            <a:off x="1078992" y="2770632"/>
            <a:ext cx="2606040" cy="868680"/>
          </a:xfrm>
          <a:prstGeom prst="rect">
            <a:avLst/>
          </a:prstGeom>
          <a:noFill/>
          <a:ln/>
        </p:spPr>
        <p:txBody>
          <a:bodyPr wrap="square" lIns="0" tIns="0" rIns="0" bIns="0" rtlCol="0" anchor="t"/>
          <a:lstStyle/>
          <a:p>
            <a:pPr indent="0" marL="0">
              <a:buNone/>
            </a:pPr>
            <a:r>
              <a:rPr lang="en-US" sz="1300" dirty="0">
                <a:solidFill>
                  <a:srgbClr val="E8D6C2"/>
                </a:solidFill>
                <a:latin typeface="Arial" pitchFamily="34" charset="0"/>
                <a:ea typeface="Arial" pitchFamily="34" charset="-122"/>
                <a:cs typeface="Arial" pitchFamily="34" charset="-120"/>
              </a:rPr>
              <a:t>Memory budget, compute cost and link cost for each device.</a:t>
            </a:r>
            <a:endParaRPr lang="en-US" sz="1300" dirty="0"/>
          </a:p>
        </p:txBody>
      </p:sp>
      <p:sp>
        <p:nvSpPr>
          <p:cNvPr id="7" name="arrow-73"/>
          <p:cNvSpPr/>
          <p:nvPr/>
        </p:nvSpPr>
        <p:spPr>
          <a:xfrm>
            <a:off x="4005072" y="2898648"/>
            <a:ext cx="411480" cy="0"/>
          </a:xfrm>
          <a:prstGeom prst="line">
            <a:avLst/>
          </a:prstGeom>
          <a:noFill/>
          <a:ln w="38100">
            <a:solidFill>
              <a:schemeClr val="accent3"/>
            </a:solidFill>
            <a:prstDash val="solid"/>
            <a:tailEnd type="triangle"/>
          </a:ln>
        </p:spPr>
      </p:sp>
      <p:sp>
        <p:nvSpPr>
          <p:cNvPr id="8" name="card-74"/>
          <p:cNvSpPr/>
          <p:nvPr/>
        </p:nvSpPr>
        <p:spPr>
          <a:xfrm>
            <a:off x="4553712" y="2057400"/>
            <a:ext cx="3035808" cy="1691640"/>
          </a:xfrm>
          <a:prstGeom prst="roundRect">
            <a:avLst>
              <a:gd name="adj" fmla="val 6486"/>
            </a:avLst>
          </a:prstGeom>
          <a:solidFill>
            <a:schemeClr val="accent5"/>
          </a:solidFill>
          <a:ln w="19050">
            <a:solidFill>
              <a:schemeClr val="accent3"/>
            </a:solidFill>
            <a:prstDash val="solid"/>
          </a:ln>
        </p:spPr>
      </p:sp>
      <p:sp>
        <p:nvSpPr>
          <p:cNvPr id="9" name="text-75"/>
          <p:cNvSpPr txBox="1"/>
          <p:nvPr/>
        </p:nvSpPr>
        <p:spPr>
          <a:xfrm>
            <a:off x="4809744" y="2286000"/>
            <a:ext cx="2560320" cy="384048"/>
          </a:xfrm>
          <a:prstGeom prst="rect">
            <a:avLst/>
          </a:prstGeom>
          <a:noFill/>
          <a:ln/>
        </p:spPr>
        <p:txBody>
          <a:bodyPr wrap="square" lIns="0" tIns="0" rIns="0" bIns="0" rtlCol="0" anchor="t"/>
          <a:lstStyle/>
          <a:p>
            <a:pPr indent="0" marL="0">
              <a:buNone/>
            </a:pPr>
            <a:r>
              <a:rPr lang="en-US" sz="2100" dirty="0">
                <a:solidFill>
                  <a:schemeClr val="bg1"/>
                </a:solidFill>
                <a:latin typeface="Trebuchet MS" pitchFamily="34" charset="0"/>
                <a:ea typeface="Trebuchet MS" pitchFamily="34" charset="-122"/>
                <a:cs typeface="Trebuchet MS" pitchFamily="34" charset="-120"/>
              </a:rPr>
              <a:t>Planner</a:t>
            </a:r>
            <a:endParaRPr lang="en-US" sz="2100" dirty="0"/>
          </a:p>
        </p:txBody>
      </p:sp>
      <p:sp>
        <p:nvSpPr>
          <p:cNvPr id="10" name="text-76"/>
          <p:cNvSpPr txBox="1"/>
          <p:nvPr/>
        </p:nvSpPr>
        <p:spPr>
          <a:xfrm>
            <a:off x="4809744" y="2770632"/>
            <a:ext cx="2606040" cy="868680"/>
          </a:xfrm>
          <a:prstGeom prst="rect">
            <a:avLst/>
          </a:prstGeom>
          <a:noFill/>
          <a:ln/>
        </p:spPr>
        <p:txBody>
          <a:bodyPr wrap="square" lIns="0" tIns="0" rIns="0" bIns="0" rtlCol="0" anchor="t"/>
          <a:lstStyle/>
          <a:p>
            <a:pPr indent="0" marL="0">
              <a:buNone/>
            </a:pPr>
            <a:r>
              <a:rPr lang="en-US" sz="1300" dirty="0">
                <a:solidFill>
                  <a:srgbClr val="E8D6C2"/>
                </a:solidFill>
                <a:latin typeface="Arial" pitchFamily="34" charset="0"/>
                <a:ea typeface="Arial" pitchFamily="34" charset="-122"/>
                <a:cs typeface="Arial" pitchFamily="34" charset="-120"/>
              </a:rPr>
              <a:t>Searches device orders and layer ranges for the fastest decode that fits.</a:t>
            </a:r>
            <a:endParaRPr lang="en-US" sz="1300" dirty="0"/>
          </a:p>
        </p:txBody>
      </p:sp>
      <p:sp>
        <p:nvSpPr>
          <p:cNvPr id="11" name="arrow-77"/>
          <p:cNvSpPr/>
          <p:nvPr/>
        </p:nvSpPr>
        <p:spPr>
          <a:xfrm>
            <a:off x="7744968" y="2898648"/>
            <a:ext cx="411480" cy="0"/>
          </a:xfrm>
          <a:prstGeom prst="line">
            <a:avLst/>
          </a:prstGeom>
          <a:noFill/>
          <a:ln w="38100">
            <a:solidFill>
              <a:schemeClr val="accent3"/>
            </a:solidFill>
            <a:prstDash val="solid"/>
            <a:tailEnd type="triangle"/>
          </a:ln>
        </p:spPr>
      </p:sp>
      <p:sp>
        <p:nvSpPr>
          <p:cNvPr id="12" name="card-78"/>
          <p:cNvSpPr/>
          <p:nvPr/>
        </p:nvSpPr>
        <p:spPr>
          <a:xfrm>
            <a:off x="8330184" y="2057400"/>
            <a:ext cx="3035808" cy="1691640"/>
          </a:xfrm>
          <a:prstGeom prst="roundRect">
            <a:avLst>
              <a:gd name="adj" fmla="val 6486"/>
            </a:avLst>
          </a:prstGeom>
          <a:solidFill>
            <a:schemeClr val="accent5"/>
          </a:solidFill>
          <a:ln/>
        </p:spPr>
      </p:sp>
      <p:sp>
        <p:nvSpPr>
          <p:cNvPr id="13" name="text-79"/>
          <p:cNvSpPr txBox="1"/>
          <p:nvPr/>
        </p:nvSpPr>
        <p:spPr>
          <a:xfrm>
            <a:off x="8586216" y="2286000"/>
            <a:ext cx="2560320" cy="384048"/>
          </a:xfrm>
          <a:prstGeom prst="rect">
            <a:avLst/>
          </a:prstGeom>
          <a:noFill/>
          <a:ln/>
        </p:spPr>
        <p:txBody>
          <a:bodyPr wrap="square" lIns="0" tIns="0" rIns="0" bIns="0" rtlCol="0" anchor="t"/>
          <a:lstStyle/>
          <a:p>
            <a:pPr indent="0" marL="0">
              <a:buNone/>
            </a:pPr>
            <a:r>
              <a:rPr lang="en-US" sz="2100" dirty="0">
                <a:solidFill>
                  <a:schemeClr val="bg1"/>
                </a:solidFill>
                <a:latin typeface="Trebuchet MS" pitchFamily="34" charset="0"/>
                <a:ea typeface="Trebuchet MS" pitchFamily="34" charset="-122"/>
                <a:cs typeface="Trebuchet MS" pitchFamily="34" charset="-120"/>
              </a:rPr>
              <a:t>Plan</a:t>
            </a:r>
            <a:endParaRPr lang="en-US" sz="2100" dirty="0"/>
          </a:p>
        </p:txBody>
      </p:sp>
      <p:sp>
        <p:nvSpPr>
          <p:cNvPr id="14" name="text-80"/>
          <p:cNvSpPr txBox="1"/>
          <p:nvPr/>
        </p:nvSpPr>
        <p:spPr>
          <a:xfrm>
            <a:off x="8586216" y="2770632"/>
            <a:ext cx="2606040" cy="868680"/>
          </a:xfrm>
          <a:prstGeom prst="rect">
            <a:avLst/>
          </a:prstGeom>
          <a:noFill/>
          <a:ln/>
        </p:spPr>
        <p:txBody>
          <a:bodyPr wrap="square" lIns="0" tIns="0" rIns="0" bIns="0" rtlCol="0" anchor="t"/>
          <a:lstStyle/>
          <a:p>
            <a:pPr indent="0" marL="0">
              <a:buNone/>
            </a:pPr>
            <a:r>
              <a:rPr lang="en-US" sz="1300" dirty="0">
                <a:solidFill>
                  <a:srgbClr val="E8D6C2"/>
                </a:solidFill>
                <a:latin typeface="Arial" pitchFamily="34" charset="0"/>
                <a:ea typeface="Arial" pitchFamily="34" charset="-122"/>
                <a:cs typeface="Arial" pitchFamily="34" charset="-120"/>
              </a:rPr>
              <a:t>Layer slices, device mappings and llama.cpp launch arguments.</a:t>
            </a:r>
            <a:endParaRPr lang="en-US" sz="1300" dirty="0"/>
          </a:p>
        </p:txBody>
      </p:sp>
      <p:sp>
        <p:nvSpPr>
          <p:cNvPr id="15" name="text-81"/>
          <p:cNvSpPr txBox="1"/>
          <p:nvPr/>
        </p:nvSpPr>
        <p:spPr>
          <a:xfrm>
            <a:off x="822960" y="4160520"/>
            <a:ext cx="5029200" cy="64008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Before launch: </a:t>
            </a:r>
            <a:pPr indent="0" marL="0">
              <a:buNone/>
            </a:pPr>
            <a:r>
              <a:rPr lang="en-US" sz="1400" dirty="0">
                <a:solidFill>
                  <a:srgbClr val="E8D6C2"/>
                </a:solidFill>
                <a:latin typeface="Arial" pitchFamily="34" charset="0"/>
                <a:ea typeface="Arial" pitchFamily="34" charset="-122"/>
                <a:cs typeface="Arial" pitchFamily="34" charset="-120"/>
              </a:rPr>
              <a:t>the leader checks coverage, budgets and topology, and refuses a bad plan.</a:t>
            </a:r>
            <a:endParaRPr lang="en-US" sz="1400" dirty="0"/>
          </a:p>
        </p:txBody>
      </p:sp>
      <p:sp>
        <p:nvSpPr>
          <p:cNvPr id="16" name="text-82"/>
          <p:cNvSpPr txBox="1"/>
          <p:nvPr/>
        </p:nvSpPr>
        <p:spPr>
          <a:xfrm>
            <a:off x="6245352" y="4160520"/>
            <a:ext cx="5120640" cy="640080"/>
          </a:xfrm>
          <a:prstGeom prst="rect">
            <a:avLst/>
          </a:prstGeom>
          <a:noFill/>
          <a:ln/>
        </p:spPr>
        <p:txBody>
          <a:bodyPr wrap="square" lIns="0" tIns="0" rIns="0" bIns="0" rtlCol="0" anchor="t"/>
          <a:lstStyle/>
          <a:p>
            <a:pPr indent="0" marL="0">
              <a:buNone/>
            </a:pPr>
            <a:r>
              <a:rPr lang="en-US" sz="1400" dirty="0">
                <a:solidFill>
                  <a:schemeClr val="accent3"/>
                </a:solidFill>
                <a:latin typeface="Arial" pitchFamily="34" charset="0"/>
                <a:ea typeface="Arial" pitchFamily="34" charset="-122"/>
                <a:cs typeface="Arial" pitchFamily="34" charset="-120"/>
              </a:rPr>
              <a:t>After a run: </a:t>
            </a:r>
            <a:pPr indent="0" marL="0">
              <a:buNone/>
            </a:pPr>
            <a:r>
              <a:rPr lang="en-US" sz="1400" dirty="0">
                <a:solidFill>
                  <a:srgbClr val="E8D6C2"/>
                </a:solidFill>
                <a:latin typeface="Arial" pitchFamily="34" charset="0"/>
                <a:ea typeface="Arial" pitchFamily="34" charset="-122"/>
                <a:cs typeface="Arial" pitchFamily="34" charset="-120"/>
              </a:rPr>
              <a:t>supplied evidence is checked, so a healthy endpoint is never mistaken for proof.</a:t>
            </a:r>
            <a:endParaRPr lang="en-US" sz="14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Arial" pitchFamily="34" charset="0"/>
                <a:ea typeface="Arial" pitchFamily="34" charset="-122"/>
                <a:cs typeface="Arial" pitchFamily="34" charset="-120"/>
              </a:rPr>
              <a:t>HISTORY SYNC AND FAILOVER</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tx1"/>
                </a:solidFill>
                <a:latin typeface="Trebuchet MS" pitchFamily="34" charset="0"/>
                <a:ea typeface="Trebuchet MS" pitchFamily="34" charset="-122"/>
                <a:cs typeface="Trebuchet MS" pitchFamily="34" charset="-120"/>
              </a:rPr>
              <a:t>If the leader drops, the conversation survives</a:t>
            </a:r>
            <a:endParaRPr lang="en-US" sz="3300" dirty="0"/>
          </a:p>
        </p:txBody>
      </p:sp>
      <p:sp>
        <p:nvSpPr>
          <p:cNvPr id="4" name="card-83"/>
          <p:cNvSpPr/>
          <p:nvPr/>
        </p:nvSpPr>
        <p:spPr>
          <a:xfrm>
            <a:off x="822960" y="1984248"/>
            <a:ext cx="3401568" cy="1947672"/>
          </a:xfrm>
          <a:prstGeom prst="roundRect">
            <a:avLst>
              <a:gd name="adj" fmla="val 5634"/>
            </a:avLst>
          </a:prstGeom>
          <a:solidFill>
            <a:srgbClr val="FFFDF8"/>
          </a:solidFill>
          <a:ln w="12700">
            <a:solidFill>
              <a:srgbClr val="EFE6D8"/>
            </a:solidFill>
            <a:prstDash val="solid"/>
          </a:ln>
        </p:spPr>
      </p:sp>
      <p:pic>
        <p:nvPicPr>
          <p:cNvPr id="5" name="Image 0" descr="Every device keeps a copy">    </p:cNvPr>
          <p:cNvPicPr>
            <a:picLocks noChangeAspect="1"/>
          </p:cNvPicPr>
          <p:nvPr/>
        </p:nvPicPr>
        <p:blipFill>
          <a:blip r:embed="rId1"/>
          <a:stretch>
            <a:fillRect/>
          </a:stretch>
        </p:blipFill>
        <p:spPr>
          <a:xfrm>
            <a:off x="1069848" y="2212848"/>
            <a:ext cx="274320" cy="274320"/>
          </a:xfrm>
          <a:prstGeom prst="rect">
            <a:avLst/>
          </a:prstGeom>
        </p:spPr>
      </p:pic>
      <p:sp>
        <p:nvSpPr>
          <p:cNvPr id="6" name="text-84"/>
          <p:cNvSpPr txBox="1"/>
          <p:nvPr/>
        </p:nvSpPr>
        <p:spPr>
          <a:xfrm>
            <a:off x="1069848" y="2606040"/>
            <a:ext cx="2926080" cy="347472"/>
          </a:xfrm>
          <a:prstGeom prst="rect">
            <a:avLst/>
          </a:prstGeom>
          <a:noFill/>
          <a:ln/>
        </p:spPr>
        <p:txBody>
          <a:bodyPr wrap="square" lIns="0" tIns="0" rIns="0" bIns="0" rtlCol="0" anchor="t"/>
          <a:lstStyle/>
          <a:p>
            <a:pPr indent="0" marL="0">
              <a:buNone/>
            </a:pPr>
            <a:r>
              <a:rPr lang="en-US" sz="1700" dirty="0">
                <a:solidFill>
                  <a:schemeClr val="tx1"/>
                </a:solidFill>
                <a:latin typeface="Trebuchet MS" pitchFamily="34" charset="0"/>
                <a:ea typeface="Trebuchet MS" pitchFamily="34" charset="-122"/>
                <a:cs typeface="Trebuchet MS" pitchFamily="34" charset="-120"/>
              </a:rPr>
              <a:t>Every device keeps a copy</a:t>
            </a:r>
            <a:endParaRPr lang="en-US" sz="1700" dirty="0"/>
          </a:p>
        </p:txBody>
      </p:sp>
      <p:sp>
        <p:nvSpPr>
          <p:cNvPr id="7" name="text-85"/>
          <p:cNvSpPr txBox="1"/>
          <p:nvPr/>
        </p:nvSpPr>
        <p:spPr>
          <a:xfrm>
            <a:off x="1069848" y="3017520"/>
            <a:ext cx="2926080" cy="82296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After each job the leader syncs the history to all workers, who save it to disk.</a:t>
            </a:r>
            <a:endParaRPr lang="en-US" sz="1200" dirty="0"/>
          </a:p>
        </p:txBody>
      </p:sp>
      <p:sp>
        <p:nvSpPr>
          <p:cNvPr id="8" name="card-86"/>
          <p:cNvSpPr/>
          <p:nvPr/>
        </p:nvSpPr>
        <p:spPr>
          <a:xfrm>
            <a:off x="4389120" y="1984248"/>
            <a:ext cx="3401568" cy="1947672"/>
          </a:xfrm>
          <a:prstGeom prst="roundRect">
            <a:avLst>
              <a:gd name="adj" fmla="val 5634"/>
            </a:avLst>
          </a:prstGeom>
          <a:solidFill>
            <a:srgbClr val="FFFDF8"/>
          </a:solidFill>
          <a:ln w="12700">
            <a:solidFill>
              <a:srgbClr val="EFE6D8"/>
            </a:solidFill>
            <a:prstDash val="solid"/>
          </a:ln>
        </p:spPr>
      </p:sp>
      <p:pic>
        <p:nvPicPr>
          <p:cNvPr id="9" name="Image 1" descr="Survivors agree on one">    </p:cNvPr>
          <p:cNvPicPr>
            <a:picLocks noChangeAspect="1"/>
          </p:cNvPicPr>
          <p:nvPr/>
        </p:nvPicPr>
        <p:blipFill>
          <a:blip r:embed="rId2"/>
          <a:stretch>
            <a:fillRect/>
          </a:stretch>
        </p:blipFill>
        <p:spPr>
          <a:xfrm>
            <a:off x="4636008" y="2212848"/>
            <a:ext cx="274320" cy="274320"/>
          </a:xfrm>
          <a:prstGeom prst="rect">
            <a:avLst/>
          </a:prstGeom>
        </p:spPr>
      </p:pic>
      <p:sp>
        <p:nvSpPr>
          <p:cNvPr id="10" name="text-87"/>
          <p:cNvSpPr txBox="1"/>
          <p:nvPr/>
        </p:nvSpPr>
        <p:spPr>
          <a:xfrm>
            <a:off x="4636008" y="2606040"/>
            <a:ext cx="2926080" cy="347472"/>
          </a:xfrm>
          <a:prstGeom prst="rect">
            <a:avLst/>
          </a:prstGeom>
          <a:noFill/>
          <a:ln/>
        </p:spPr>
        <p:txBody>
          <a:bodyPr wrap="square" lIns="0" tIns="0" rIns="0" bIns="0" rtlCol="0" anchor="t"/>
          <a:lstStyle/>
          <a:p>
            <a:pPr indent="0" marL="0">
              <a:buNone/>
            </a:pPr>
            <a:r>
              <a:rPr lang="en-US" sz="1700" dirty="0">
                <a:solidFill>
                  <a:schemeClr val="tx1"/>
                </a:solidFill>
                <a:latin typeface="Trebuchet MS" pitchFamily="34" charset="0"/>
                <a:ea typeface="Trebuchet MS" pitchFamily="34" charset="-122"/>
                <a:cs typeface="Trebuchet MS" pitchFamily="34" charset="-120"/>
              </a:rPr>
              <a:t>Survivors agree on one</a:t>
            </a:r>
            <a:endParaRPr lang="en-US" sz="1700" dirty="0"/>
          </a:p>
        </p:txBody>
      </p:sp>
      <p:sp>
        <p:nvSpPr>
          <p:cNvPr id="11" name="text-88"/>
          <p:cNvSpPr txBox="1"/>
          <p:nvPr/>
        </p:nvSpPr>
        <p:spPr>
          <a:xfrm>
            <a:off x="4636008" y="3017520"/>
            <a:ext cx="2926080" cy="82296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Newest history wins, then longest connected, then lowest node ID. Same inputs, same winner.</a:t>
            </a:r>
            <a:endParaRPr lang="en-US" sz="1200" dirty="0"/>
          </a:p>
        </p:txBody>
      </p:sp>
      <p:sp>
        <p:nvSpPr>
          <p:cNvPr id="12" name="card-89"/>
          <p:cNvSpPr/>
          <p:nvPr/>
        </p:nvSpPr>
        <p:spPr>
          <a:xfrm>
            <a:off x="7955280" y="1984248"/>
            <a:ext cx="3401568" cy="1947672"/>
          </a:xfrm>
          <a:prstGeom prst="roundRect">
            <a:avLst>
              <a:gd name="adj" fmla="val 5634"/>
            </a:avLst>
          </a:prstGeom>
          <a:solidFill>
            <a:srgbClr val="FFFDF8"/>
          </a:solidFill>
          <a:ln w="12700">
            <a:solidFill>
              <a:srgbClr val="EFE6D8"/>
            </a:solidFill>
            <a:prstDash val="solid"/>
          </a:ln>
        </p:spPr>
      </p:sp>
      <p:pic>
        <p:nvPicPr>
          <p:cNvPr id="13" name="Image 2" descr="A new epoch begins">    </p:cNvPr>
          <p:cNvPicPr>
            <a:picLocks noChangeAspect="1"/>
          </p:cNvPicPr>
          <p:nvPr/>
        </p:nvPicPr>
        <p:blipFill>
          <a:blip r:embed="rId3"/>
          <a:stretch>
            <a:fillRect/>
          </a:stretch>
        </p:blipFill>
        <p:spPr>
          <a:xfrm>
            <a:off x="8202168" y="2212848"/>
            <a:ext cx="274320" cy="274320"/>
          </a:xfrm>
          <a:prstGeom prst="rect">
            <a:avLst/>
          </a:prstGeom>
        </p:spPr>
      </p:pic>
      <p:sp>
        <p:nvSpPr>
          <p:cNvPr id="14" name="text-90"/>
          <p:cNvSpPr txBox="1"/>
          <p:nvPr/>
        </p:nvSpPr>
        <p:spPr>
          <a:xfrm>
            <a:off x="8202168" y="2606040"/>
            <a:ext cx="2926080" cy="347472"/>
          </a:xfrm>
          <a:prstGeom prst="rect">
            <a:avLst/>
          </a:prstGeom>
          <a:noFill/>
          <a:ln/>
        </p:spPr>
        <p:txBody>
          <a:bodyPr wrap="square" lIns="0" tIns="0" rIns="0" bIns="0" rtlCol="0" anchor="t"/>
          <a:lstStyle/>
          <a:p>
            <a:pPr indent="0" marL="0">
              <a:buNone/>
            </a:pPr>
            <a:r>
              <a:rPr lang="en-US" sz="1700" dirty="0">
                <a:solidFill>
                  <a:schemeClr val="tx1"/>
                </a:solidFill>
                <a:latin typeface="Trebuchet MS" pitchFamily="34" charset="0"/>
                <a:ea typeface="Trebuchet MS" pitchFamily="34" charset="-122"/>
                <a:cs typeface="Trebuchet MS" pitchFamily="34" charset="-120"/>
              </a:rPr>
              <a:t>A new epoch begins</a:t>
            </a:r>
            <a:endParaRPr lang="en-US" sz="1700" dirty="0"/>
          </a:p>
        </p:txBody>
      </p:sp>
      <p:sp>
        <p:nvSpPr>
          <p:cNvPr id="15" name="text-91"/>
          <p:cNvSpPr txBox="1"/>
          <p:nvPr/>
        </p:nvSpPr>
        <p:spPr>
          <a:xfrm>
            <a:off x="8202168" y="3017520"/>
            <a:ext cx="2926080" cy="82296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The winner takes over one epoch higher, so a returning old leader steps down.</a:t>
            </a:r>
            <a:endParaRPr lang="en-US" sz="1200" dirty="0"/>
          </a:p>
        </p:txBody>
      </p:sp>
      <p:sp>
        <p:nvSpPr>
          <p:cNvPr id="16" name="card-92"/>
          <p:cNvSpPr/>
          <p:nvPr/>
        </p:nvSpPr>
        <p:spPr>
          <a:xfrm>
            <a:off x="822960" y="4315968"/>
            <a:ext cx="10543032" cy="530352"/>
          </a:xfrm>
          <a:prstGeom prst="roundRect">
            <a:avLst>
              <a:gd name="adj" fmla="val 17241"/>
            </a:avLst>
          </a:prstGeom>
          <a:solidFill>
            <a:srgbClr val="FAF5E9"/>
          </a:solidFill>
          <a:ln w="12700">
            <a:solidFill>
              <a:srgbClr val="EFE3C8"/>
            </a:solidFill>
            <a:prstDash val="solid"/>
          </a:ln>
        </p:spPr>
      </p:sp>
      <p:pic>
        <p:nvPicPr>
          <p:cNvPr id="17" name="Image 3" descr="Caution">    </p:cNvPr>
          <p:cNvPicPr>
            <a:picLocks noChangeAspect="1"/>
          </p:cNvPicPr>
          <p:nvPr/>
        </p:nvPicPr>
        <p:blipFill>
          <a:blip r:embed="rId4"/>
          <a:stretch>
            <a:fillRect/>
          </a:stretch>
        </p:blipFill>
        <p:spPr>
          <a:xfrm>
            <a:off x="1078992" y="4453128"/>
            <a:ext cx="256032" cy="256032"/>
          </a:xfrm>
          <a:prstGeom prst="rect">
            <a:avLst/>
          </a:prstGeom>
        </p:spPr>
      </p:pic>
      <p:sp>
        <p:nvSpPr>
          <p:cNvPr id="18" name="text-93"/>
          <p:cNvSpPr txBox="1"/>
          <p:nvPr/>
        </p:nvSpPr>
        <p:spPr>
          <a:xfrm>
            <a:off x="1463040" y="4416552"/>
            <a:ext cx="9601200" cy="329184"/>
          </a:xfrm>
          <a:prstGeom prst="rect">
            <a:avLst/>
          </a:prstGeom>
          <a:noFill/>
          <a:ln/>
        </p:spPr>
        <p:txBody>
          <a:bodyPr wrap="square" lIns="0" tIns="0" rIns="0" bIns="0" rtlCol="0" anchor="ctr"/>
          <a:lstStyle/>
          <a:p>
            <a:pPr indent="0" marL="0">
              <a:buNone/>
            </a:pPr>
            <a:r>
              <a:rPr lang="en-US" sz="1400" dirty="0">
                <a:solidFill>
                  <a:schemeClr val="accent6"/>
                </a:solidFill>
                <a:latin typeface="Arial" pitchFamily="34" charset="0"/>
                <a:ea typeface="Arial" pitchFamily="34" charset="-122"/>
                <a:cs typeface="Arial" pitchFamily="34" charset="-120"/>
              </a:rPr>
              <a:t>Working in a simulator and 31 tests; not yet wired into live nodes.</a:t>
            </a:r>
            <a:endParaRPr lang="en-US" sz="14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3"/>
                </a:solidFill>
                <a:latin typeface="Arial" pitchFamily="34" charset="0"/>
                <a:ea typeface="Arial" pitchFamily="34" charset="-122"/>
                <a:cs typeface="Arial" pitchFamily="34" charset="-120"/>
              </a:rPr>
              <a:t>WHERE IT STANDS</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bg1"/>
                </a:solidFill>
                <a:latin typeface="Trebuchet MS" pitchFamily="34" charset="0"/>
                <a:ea typeface="Trebuchet MS" pitchFamily="34" charset="-122"/>
                <a:cs typeface="Trebuchet MS" pitchFamily="34" charset="-120"/>
              </a:rPr>
              <a:t>Working pieces, honest gaps</a:t>
            </a:r>
            <a:endParaRPr lang="en-US" sz="3300" dirty="0"/>
          </a:p>
        </p:txBody>
      </p:sp>
      <p:sp>
        <p:nvSpPr>
          <p:cNvPr id="4" name="card-94"/>
          <p:cNvSpPr/>
          <p:nvPr/>
        </p:nvSpPr>
        <p:spPr>
          <a:xfrm>
            <a:off x="822960" y="1984248"/>
            <a:ext cx="5157216" cy="2532888"/>
          </a:xfrm>
          <a:prstGeom prst="roundRect">
            <a:avLst>
              <a:gd name="adj" fmla="val 4332"/>
            </a:avLst>
          </a:prstGeom>
          <a:solidFill>
            <a:schemeClr val="accent5"/>
          </a:solidFill>
          <a:ln/>
        </p:spPr>
      </p:sp>
      <p:sp>
        <p:nvSpPr>
          <p:cNvPr id="5" name="status-key-95"/>
          <p:cNvSpPr/>
          <p:nvPr/>
        </p:nvSpPr>
        <p:spPr>
          <a:xfrm>
            <a:off x="932688" y="1984248"/>
            <a:ext cx="4937760" cy="54864"/>
          </a:xfrm>
          <a:prstGeom prst="rect">
            <a:avLst/>
          </a:prstGeom>
          <a:solidFill>
            <a:schemeClr val="accent3"/>
          </a:solidFill>
          <a:ln/>
        </p:spPr>
      </p:sp>
      <p:sp>
        <p:nvSpPr>
          <p:cNvPr id="6" name="text-96"/>
          <p:cNvSpPr txBox="1"/>
          <p:nvPr/>
        </p:nvSpPr>
        <p:spPr>
          <a:xfrm>
            <a:off x="1124712" y="2240280"/>
            <a:ext cx="4572000" cy="411480"/>
          </a:xfrm>
          <a:prstGeom prst="rect">
            <a:avLst/>
          </a:prstGeom>
          <a:noFill/>
          <a:ln/>
        </p:spPr>
        <p:txBody>
          <a:bodyPr wrap="square" lIns="0" tIns="0" rIns="0" bIns="0" rtlCol="0" anchor="t"/>
          <a:lstStyle/>
          <a:p>
            <a:pPr indent="0" marL="0">
              <a:buNone/>
            </a:pPr>
            <a:r>
              <a:rPr lang="en-US" sz="2200" dirty="0">
                <a:solidFill>
                  <a:schemeClr val="accent3"/>
                </a:solidFill>
                <a:latin typeface="Trebuchet MS" pitchFamily="34" charset="0"/>
                <a:ea typeface="Trebuchet MS" pitchFamily="34" charset="-122"/>
                <a:cs typeface="Trebuchet MS" pitchFamily="34" charset="-120"/>
              </a:rPr>
              <a:t>Working</a:t>
            </a:r>
            <a:endParaRPr lang="en-US" sz="2200" dirty="0"/>
          </a:p>
        </p:txBody>
      </p:sp>
      <p:sp>
        <p:nvSpPr>
          <p:cNvPr id="7" name="text-97"/>
          <p:cNvSpPr txBox="1"/>
          <p:nvPr/>
        </p:nvSpPr>
        <p:spPr>
          <a:xfrm>
            <a:off x="1124712" y="2743200"/>
            <a:ext cx="46177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Iroh mesh, RPC bridge and peer allowlists</a:t>
            </a:r>
            <a:endParaRPr lang="en-US" sz="1300" dirty="0"/>
          </a:p>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Budget-aware placement with preflight checks</a:t>
            </a:r>
            <a:endParaRPr lang="en-US" sz="1300" dirty="0"/>
          </a:p>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Leader and worker launch with heartbeats</a:t>
            </a:r>
            <a:endParaRPr lang="en-US" sz="1300" dirty="0"/>
          </a:p>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Shard backend and the Layer Cake dashboard</a:t>
            </a:r>
            <a:endParaRPr lang="en-US" sz="1300" dirty="0"/>
          </a:p>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Builds for Windows, Linux and macOS</a:t>
            </a:r>
            <a:endParaRPr lang="en-US" sz="1300" dirty="0"/>
          </a:p>
        </p:txBody>
      </p:sp>
      <p:sp>
        <p:nvSpPr>
          <p:cNvPr id="8" name="card-98"/>
          <p:cNvSpPr/>
          <p:nvPr/>
        </p:nvSpPr>
        <p:spPr>
          <a:xfrm>
            <a:off x="6199632" y="1984248"/>
            <a:ext cx="5157216" cy="2532888"/>
          </a:xfrm>
          <a:prstGeom prst="roundRect">
            <a:avLst>
              <a:gd name="adj" fmla="val 4332"/>
            </a:avLst>
          </a:prstGeom>
          <a:solidFill>
            <a:schemeClr val="accent5"/>
          </a:solidFill>
          <a:ln/>
        </p:spPr>
      </p:sp>
      <p:sp>
        <p:nvSpPr>
          <p:cNvPr id="9" name="status-key-99"/>
          <p:cNvSpPr/>
          <p:nvPr/>
        </p:nvSpPr>
        <p:spPr>
          <a:xfrm>
            <a:off x="6309360" y="1984248"/>
            <a:ext cx="4937760" cy="54864"/>
          </a:xfrm>
          <a:prstGeom prst="rect">
            <a:avLst/>
          </a:prstGeom>
          <a:solidFill>
            <a:schemeClr val="accent4"/>
          </a:solidFill>
          <a:ln/>
        </p:spPr>
      </p:sp>
      <p:sp>
        <p:nvSpPr>
          <p:cNvPr id="10" name="text-100"/>
          <p:cNvSpPr txBox="1"/>
          <p:nvPr/>
        </p:nvSpPr>
        <p:spPr>
          <a:xfrm>
            <a:off x="6501384" y="2240280"/>
            <a:ext cx="4572000" cy="411480"/>
          </a:xfrm>
          <a:prstGeom prst="rect">
            <a:avLst/>
          </a:prstGeom>
          <a:noFill/>
          <a:ln/>
        </p:spPr>
        <p:txBody>
          <a:bodyPr wrap="square" lIns="0" tIns="0" rIns="0" bIns="0" rtlCol="0" anchor="t"/>
          <a:lstStyle/>
          <a:p>
            <a:pPr indent="0" marL="0">
              <a:buNone/>
            </a:pPr>
            <a:r>
              <a:rPr lang="en-US" sz="2200" dirty="0">
                <a:solidFill>
                  <a:schemeClr val="accent4"/>
                </a:solidFill>
                <a:latin typeface="Trebuchet MS" pitchFamily="34" charset="0"/>
                <a:ea typeface="Trebuchet MS" pitchFamily="34" charset="-122"/>
                <a:cs typeface="Trebuchet MS" pitchFamily="34" charset="-120"/>
              </a:rPr>
              <a:t>Next</a:t>
            </a:r>
            <a:endParaRPr lang="en-US" sz="2200" dirty="0"/>
          </a:p>
        </p:txBody>
      </p:sp>
      <p:sp>
        <p:nvSpPr>
          <p:cNvPr id="11" name="text-101"/>
          <p:cNvSpPr txBox="1"/>
          <p:nvPr/>
        </p:nvSpPr>
        <p:spPr>
          <a:xfrm>
            <a:off x="6501384" y="2743200"/>
            <a:ext cx="46177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Emoji-code pairing, wired to the core</a:t>
            </a:r>
            <a:endParaRPr lang="en-US" sz="1300" dirty="0"/>
          </a:p>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Wire history sync into live nodes</a:t>
            </a:r>
            <a:endParaRPr lang="en-US" sz="1300" dirty="0"/>
          </a:p>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Let a worker host a shard the leader assigns</a:t>
            </a:r>
            <a:endParaRPr lang="en-US" sz="1300" dirty="0"/>
          </a:p>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Enforce hard per-device memory caps</a:t>
            </a:r>
            <a:endParaRPr lang="en-US" sz="1300" dirty="0"/>
          </a:p>
          <a:p>
            <a:pPr marL="177800" indent="-177800">
              <a:spcAft>
                <a:spcPts val="500"/>
              </a:spcAft>
              <a:buSzPct val="100000"/>
              <a:buChar char="•"/>
            </a:pPr>
            <a:r>
              <a:rPr lang="en-US" sz="1300" dirty="0">
                <a:solidFill>
                  <a:srgbClr val="E8D6C2"/>
                </a:solidFill>
                <a:latin typeface="Arial" pitchFamily="34" charset="0"/>
                <a:ea typeface="Arial" pitchFamily="34" charset="-122"/>
                <a:cs typeface="Arial" pitchFamily="34" charset="-120"/>
              </a:rPr>
              <a:t>More than two devices in one run</a:t>
            </a:r>
            <a:endParaRPr lang="en-US" sz="13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22960" y="786384"/>
            <a:ext cx="10515600" cy="292608"/>
          </a:xfrm>
          <a:prstGeom prst="rect">
            <a:avLst/>
          </a:prstGeom>
          <a:noFill/>
          <a:ln/>
        </p:spPr>
        <p:txBody>
          <a:bodyPr wrap="square" lIns="0" tIns="0" rIns="0" bIns="0" rtlCol="0"/>
          <a:lstStyle/>
          <a:p>
            <a:pPr indent="0" marL="0">
              <a:buNone/>
            </a:pPr>
            <a:r>
              <a:rPr lang="en-US" sz="1200" b="1" spc="200" kern="0" dirty="0">
                <a:solidFill>
                  <a:schemeClr val="accent1"/>
                </a:solidFill>
                <a:latin typeface="Arial" pitchFamily="34" charset="0"/>
                <a:ea typeface="Arial" pitchFamily="34" charset="-122"/>
                <a:cs typeface="Arial" pitchFamily="34" charset="-120"/>
              </a:rPr>
              <a:t>TRY IT</a:t>
            </a:r>
            <a:endParaRPr lang="en-US" sz="1200" dirty="0"/>
          </a:p>
        </p:txBody>
      </p:sp>
      <p:sp>
        <p:nvSpPr>
          <p:cNvPr id="3" name="Text 0"/>
          <p:cNvSpPr/>
          <p:nvPr>
            <p:ph idx="101" type="title" hasCustomPrompt="1"/>
          </p:nvPr>
        </p:nvSpPr>
        <p:spPr>
          <a:xfrm>
            <a:off x="822960" y="1060704"/>
            <a:ext cx="10908792" cy="713232"/>
          </a:xfrm>
          <a:prstGeom prst="rect">
            <a:avLst/>
          </a:prstGeom>
          <a:noFill/>
          <a:ln/>
        </p:spPr>
        <p:txBody>
          <a:bodyPr wrap="square" lIns="0" tIns="0" rIns="0" bIns="0" rtlCol="0" anchor="t"/>
          <a:lstStyle/>
          <a:p>
            <a:pPr algn="l" indent="0" marL="0">
              <a:buNone/>
            </a:pPr>
            <a:r>
              <a:rPr lang="en-US" sz="3300" b="1" dirty="0">
                <a:solidFill>
                  <a:schemeClr val="tx1"/>
                </a:solidFill>
                <a:latin typeface="Trebuchet MS" pitchFamily="34" charset="0"/>
                <a:ea typeface="Trebuchet MS" pitchFamily="34" charset="-122"/>
                <a:cs typeface="Trebuchet MS" pitchFamily="34" charset="-120"/>
              </a:rPr>
              <a:t>Better with company</a:t>
            </a:r>
            <a:endParaRPr lang="en-US" sz="3300" dirty="0"/>
          </a:p>
        </p:txBody>
      </p:sp>
      <p:sp>
        <p:nvSpPr>
          <p:cNvPr id="4" name="text-102"/>
          <p:cNvSpPr txBox="1"/>
          <p:nvPr/>
        </p:nvSpPr>
        <p:spPr>
          <a:xfrm>
            <a:off x="822960" y="1965960"/>
            <a:ext cx="7315200" cy="27432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On the device that holds layers 0–31</a:t>
            </a:r>
            <a:endParaRPr lang="en-US" sz="1200" dirty="0"/>
          </a:p>
        </p:txBody>
      </p:sp>
      <p:sp>
        <p:nvSpPr>
          <p:cNvPr id="5" name="card-103"/>
          <p:cNvSpPr/>
          <p:nvPr/>
        </p:nvSpPr>
        <p:spPr>
          <a:xfrm>
            <a:off x="822960" y="2240280"/>
            <a:ext cx="10543032" cy="886968"/>
          </a:xfrm>
          <a:prstGeom prst="roundRect">
            <a:avLst>
              <a:gd name="adj" fmla="val 8247"/>
            </a:avLst>
          </a:prstGeom>
          <a:solidFill>
            <a:schemeClr val="tx2"/>
          </a:solidFill>
          <a:ln/>
        </p:spPr>
      </p:sp>
      <p:sp>
        <p:nvSpPr>
          <p:cNvPr id="6" name="text-104"/>
          <p:cNvSpPr txBox="1"/>
          <p:nvPr/>
        </p:nvSpPr>
        <p:spPr>
          <a:xfrm>
            <a:off x="1115568" y="2240280"/>
            <a:ext cx="10058400" cy="886968"/>
          </a:xfrm>
          <a:prstGeom prst="rect">
            <a:avLst/>
          </a:prstGeom>
          <a:noFill/>
          <a:ln/>
        </p:spPr>
        <p:txBody>
          <a:bodyPr wrap="square" lIns="0" tIns="0" rIns="0" bIns="0" rtlCol="0" anchor="ctr"/>
          <a:lstStyle/>
          <a:p>
            <a:pPr indent="0" marL="0">
              <a:buNone/>
            </a:pPr>
            <a:r>
              <a:rPr lang="en-US" sz="1500" dirty="0">
                <a:solidFill>
                  <a:schemeClr val="bg1"/>
                </a:solidFill>
                <a:latin typeface="Consolas" pitchFamily="34" charset="0"/>
                <a:ea typeface="Consolas" pitchFamily="34" charset="-122"/>
                <a:cs typeface="Consolas" pitchFamily="34" charset="-120"/>
              </a:rPr>
              <a:t>llm-cluster shard-serve --model prefix-0-32.gguf --range 0:32 \</a:t>
            </a:r>
            <a:endParaRPr lang="en-US" sz="1500" dirty="0"/>
          </a:p>
          <a:p>
            <a:pPr indent="0" marL="0">
              <a:buNone/>
            </a:pPr>
            <a:r>
              <a:rPr lang="en-US" sz="1500" dirty="0">
                <a:solidFill>
                  <a:schemeClr val="bg1"/>
                </a:solidFill>
                <a:latin typeface="Consolas" pitchFamily="34" charset="0"/>
                <a:ea typeface="Consolas" pitchFamily="34" charset="-122"/>
                <a:cs typeface="Consolas" pitchFamily="34" charset="-120"/>
              </a:rPr>
              <a:t>  --runner mesh-shard-runner --allow-peer &lt;leader node id&gt;</a:t>
            </a:r>
            <a:endParaRPr lang="en-US" sz="1500" dirty="0"/>
          </a:p>
        </p:txBody>
      </p:sp>
      <p:sp>
        <p:nvSpPr>
          <p:cNvPr id="7" name="text-105"/>
          <p:cNvSpPr txBox="1"/>
          <p:nvPr/>
        </p:nvSpPr>
        <p:spPr>
          <a:xfrm>
            <a:off x="822960" y="3291840"/>
            <a:ext cx="7315200" cy="27432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On the leader, then open the dashboard with ./mesh-ui</a:t>
            </a:r>
            <a:endParaRPr lang="en-US" sz="1200" dirty="0"/>
          </a:p>
        </p:txBody>
      </p:sp>
      <p:sp>
        <p:nvSpPr>
          <p:cNvPr id="8" name="card-106"/>
          <p:cNvSpPr/>
          <p:nvPr/>
        </p:nvSpPr>
        <p:spPr>
          <a:xfrm>
            <a:off x="822960" y="3566160"/>
            <a:ext cx="10543032" cy="594360"/>
          </a:xfrm>
          <a:prstGeom prst="roundRect">
            <a:avLst>
              <a:gd name="adj" fmla="val 12308"/>
            </a:avLst>
          </a:prstGeom>
          <a:solidFill>
            <a:schemeClr val="tx2"/>
          </a:solidFill>
          <a:ln/>
        </p:spPr>
      </p:sp>
      <p:sp>
        <p:nvSpPr>
          <p:cNvPr id="9" name="text-107"/>
          <p:cNvSpPr txBox="1"/>
          <p:nvPr/>
        </p:nvSpPr>
        <p:spPr>
          <a:xfrm>
            <a:off x="1115568" y="3566160"/>
            <a:ext cx="10058400" cy="594360"/>
          </a:xfrm>
          <a:prstGeom prst="rect">
            <a:avLst/>
          </a:prstGeom>
          <a:noFill/>
          <a:ln/>
        </p:spPr>
        <p:txBody>
          <a:bodyPr wrap="square" lIns="0" tIns="0" rIns="0" bIns="0" rtlCol="0" anchor="ctr"/>
          <a:lstStyle/>
          <a:p>
            <a:pPr indent="0" marL="0">
              <a:buNone/>
            </a:pPr>
            <a:r>
              <a:rPr lang="en-US" sz="1500" dirty="0">
                <a:solidFill>
                  <a:schemeClr val="bg1"/>
                </a:solidFill>
                <a:latin typeface="Consolas" pitchFamily="34" charset="0"/>
                <a:ea typeface="Consolas" pitchFamily="34" charset="-122"/>
                <a:cs typeface="Consolas" pitchFamily="34" charset="-120"/>
              </a:rPr>
              <a:t>llm-cluster leader --backend shard --shard-manifest m.json</a:t>
            </a:r>
            <a:endParaRPr lang="en-US" sz="1500" dirty="0"/>
          </a:p>
        </p:txBody>
      </p:sp>
      <p:sp>
        <p:nvSpPr>
          <p:cNvPr id="10" name="text-108"/>
          <p:cNvSpPr txBox="1"/>
          <p:nvPr/>
        </p:nvSpPr>
        <p:spPr>
          <a:xfrm>
            <a:off x="822960" y="5650992"/>
            <a:ext cx="4572000" cy="457200"/>
          </a:xfrm>
          <a:prstGeom prst="rect">
            <a:avLst/>
          </a:prstGeom>
          <a:noFill/>
          <a:ln/>
        </p:spPr>
        <p:txBody>
          <a:bodyPr wrap="square" lIns="0" tIns="0" rIns="0" bIns="0" rtlCol="0" anchor="t"/>
          <a:lstStyle/>
          <a:p>
            <a:pPr indent="0" marL="0">
              <a:buNone/>
            </a:pPr>
            <a:r>
              <a:rPr lang="en-US" sz="2400" b="1" dirty="0">
                <a:solidFill>
                  <a:schemeClr val="tx1"/>
                </a:solidFill>
                <a:latin typeface="Trebuchet MS" pitchFamily="34" charset="0"/>
                <a:ea typeface="Trebuchet MS" pitchFamily="34" charset="-122"/>
                <a:cs typeface="Trebuchet MS" pitchFamily="34" charset="-120"/>
              </a:rPr>
              <a:t>layer cake</a:t>
            </a:r>
            <a:pPr indent="0" marL="0">
              <a:buNone/>
            </a:pPr>
            <a:r>
              <a:rPr lang="en-US" sz="2400" b="1" dirty="0">
                <a:solidFill>
                  <a:schemeClr val="accent1"/>
                </a:solidFill>
                <a:latin typeface="Trebuchet MS" pitchFamily="34" charset="0"/>
                <a:ea typeface="Trebuchet MS" pitchFamily="34" charset="-122"/>
                <a:cs typeface="Trebuchet MS" pitchFamily="34" charset="-120"/>
              </a:rPr>
              <a:t>.</a:t>
            </a:r>
            <a:pPr indent="0" marL="0">
              <a:buNone/>
            </a:pPr>
            <a:r>
              <a:rPr lang="en-US" sz="2400" b="1" dirty="0">
                <a:solidFill>
                  <a:schemeClr val="tx1"/>
                </a:solidFill>
                <a:latin typeface="Trebuchet MS" pitchFamily="34" charset="0"/>
                <a:ea typeface="Trebuchet MS" pitchFamily="34" charset="-122"/>
                <a:cs typeface="Trebuchet MS" pitchFamily="34" charset="-120"/>
              </a:rPr>
              <a:t> Thank you.</a:t>
            </a:r>
            <a:endParaRPr lang="en-US" sz="2400" dirty="0"/>
          </a:p>
        </p:txBody>
      </p:sp>
      <p:sp>
        <p:nvSpPr>
          <p:cNvPr id="11" name="text-109"/>
          <p:cNvSpPr txBox="1"/>
          <p:nvPr/>
        </p:nvSpPr>
        <p:spPr>
          <a:xfrm>
            <a:off x="5852160" y="5760720"/>
            <a:ext cx="5513832" cy="274320"/>
          </a:xfrm>
          <a:prstGeom prst="rect">
            <a:avLst/>
          </a:prstGeom>
          <a:noFill/>
          <a:ln/>
        </p:spPr>
        <p:txBody>
          <a:bodyPr wrap="square" lIns="0" tIns="0" rIns="0" bIns="0" rtlCol="0" anchor="t"/>
          <a:lstStyle/>
          <a:p>
            <a:pPr algn="r" indent="0" marL="0">
              <a:buNone/>
            </a:pPr>
            <a:r>
              <a:rPr lang="en-US" sz="1100" dirty="0">
                <a:solidFill>
                  <a:schemeClr val="accent6"/>
                </a:solidFill>
                <a:latin typeface="Arial" pitchFamily="34" charset="0"/>
                <a:ea typeface="Arial" pitchFamily="34" charset="-122"/>
                <a:cs typeface="Arial" pitchFamily="34" charset="-120"/>
              </a:rPr>
              <a:t>Aarush Maddula  ·  Connor Cochran  ·  David Stephenson  ·  Yash Joshi</a:t>
            </a:r>
            <a:endParaRPr lang="en-US" sz="1100" dirty="0"/>
          </a:p>
        </p:txBody>
      </p:sp>
      <p:sp>
        <p:nvSpPr>
          <p:cNvPr id="25" name="Slide Number Placeholder 0"/>
          <p:cNvSpPr>
            <a:spLocks noGrp="1"/>
          </p:cNvSpPr>
          <p:nvPr>
            <p:ph type="sldNum" sz="quarter" idx="4294967295"/>
          </p:nvPr>
        </p:nvSpPr>
        <p:spPr>
          <a:xfrm>
            <a:off x="11091672" y="63367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Layer Cake">
  <a:themeElements>
    <a:clrScheme name="Layer Cake">
      <a:dk1>
        <a:srgbClr val="3B2416"/>
      </a:dk1>
      <a:lt1>
        <a:srgbClr val="FBF6EE"/>
      </a:lt1>
      <a:dk2>
        <a:srgbClr val="4A2A18"/>
      </a:dk2>
      <a:lt2>
        <a:srgbClr val="F3E6D3"/>
      </a:lt2>
      <a:accent1>
        <a:srgbClr val="B3261E"/>
      </a:accent1>
      <a:accent2>
        <a:srgbClr val="D9A066"/>
      </a:accent2>
      <a:accent3>
        <a:srgbClr val="F48C80"/>
      </a:accent3>
      <a:accent4>
        <a:srgbClr val="E9C089"/>
      </a:accent4>
      <a:accent5>
        <a:srgbClr val="63391F"/>
      </a:accent5>
      <a:accent6>
        <a:srgbClr val="6B5442"/>
      </a:accent6>
      <a:hlink>
        <a:srgbClr val="B3261E"/>
      </a:hlink>
      <a:folHlink>
        <a:srgbClr val="8A5428"/>
      </a:folHlink>
    </a:clrScheme>
    <a:fontScheme name="Layer Cak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Layer Cake</dc:title>
  <dc:subject>HackOHIO 2026 pitch</dc:subject>
  <dc:creator>Aarush Maddula, Connor Cochran, David Stephenson, Yash Joshi</dc:creator>
  <cp:lastModifiedBy>Aarush Maddula, Connor Cochran, David Stephenson, Yash Joshi</cp:lastModifiedBy>
  <cp:revision>1</cp:revision>
  <dcterms:created xsi:type="dcterms:W3CDTF">2026-10-25T12:12:36Z</dcterms:created>
  <dcterms:modified xsi:type="dcterms:W3CDTF">2026-10-25T12:12:36Z</dcterms:modified>
</cp:coreProperties>
</file>